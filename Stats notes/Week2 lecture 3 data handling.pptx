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57" r:id="rId4"/>
    <p:sldId id="258" r:id="rId5"/>
    <p:sldId id="260" r:id="rId6"/>
    <p:sldId id="259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2505927E-7878-418D-85B6-DE4B21387A9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87BE2C40-99DE-4A88-AAFD-A053794CD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913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5927E-7878-418D-85B6-DE4B21387A9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2C40-99DE-4A88-AAFD-A053794CD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463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5927E-7878-418D-85B6-DE4B21387A9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2C40-99DE-4A88-AAFD-A053794CD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206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5927E-7878-418D-85B6-DE4B21387A9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2C40-99DE-4A88-AAFD-A053794CD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480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5927E-7878-418D-85B6-DE4B21387A9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2C40-99DE-4A88-AAFD-A053794CD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785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5927E-7878-418D-85B6-DE4B21387A9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2C40-99DE-4A88-AAFD-A053794CD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108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5927E-7878-418D-85B6-DE4B21387A9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2C40-99DE-4A88-AAFD-A053794CD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317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5927E-7878-418D-85B6-DE4B21387A9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2C40-99DE-4A88-AAFD-A053794CD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571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5927E-7878-418D-85B6-DE4B21387A9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2C40-99DE-4A88-AAFD-A053794CD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137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5927E-7878-418D-85B6-DE4B21387A9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2C40-99DE-4A88-AAFD-A053794CD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497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5927E-7878-418D-85B6-DE4B21387A9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2C40-99DE-4A88-AAFD-A053794CD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0847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5927E-7878-418D-85B6-DE4B21387A9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2C40-99DE-4A88-AAFD-A053794CD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5752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5927E-7878-418D-85B6-DE4B21387A9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2C40-99DE-4A88-AAFD-A053794CD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369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5927E-7878-418D-85B6-DE4B21387A9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2C40-99DE-4A88-AAFD-A053794CD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3962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5927E-7878-418D-85B6-DE4B21387A9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2C40-99DE-4A88-AAFD-A053794CD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3986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2505927E-7878-418D-85B6-DE4B21387A9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2C40-99DE-4A88-AAFD-A053794CD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1044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2505927E-7878-418D-85B6-DE4B21387A9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E2C40-99DE-4A88-AAFD-A053794CD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505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505927E-7878-418D-85B6-DE4B21387A9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87BE2C40-99DE-4A88-AAFD-A053794CD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595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800" dirty="0"/>
              <a:t>Applied Statistics for AI	</a:t>
            </a:r>
            <a:br>
              <a:rPr lang="en-US" sz="4800" dirty="0"/>
            </a:br>
            <a:r>
              <a:rPr lang="en-US" sz="4800" dirty="0"/>
              <a:t>                 (</a:t>
            </a:r>
            <a:r>
              <a:rPr lang="en-US" sz="4400" dirty="0"/>
              <a:t>CMAI </a:t>
            </a:r>
            <a:r>
              <a:rPr lang="en-US" sz="4400" dirty="0" smtClean="0"/>
              <a:t>6203 </a:t>
            </a:r>
            <a:r>
              <a:rPr lang="en-US" sz="4400" dirty="0"/>
              <a:t>)</a:t>
            </a:r>
            <a:r>
              <a:rPr lang="en-US" sz="4800" dirty="0"/>
              <a:t>				</a:t>
            </a:r>
            <a:br>
              <a:rPr lang="en-US" sz="4800" dirty="0"/>
            </a:br>
            <a:r>
              <a:rPr lang="en-US" sz="4800" dirty="0"/>
              <a:t>      </a:t>
            </a:r>
            <a:r>
              <a:rPr lang="en-US" sz="4000" dirty="0" smtClean="0"/>
              <a:t>Week-2         Lecture-3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endParaRPr lang="en-US" sz="3200" dirty="0" smtClean="0"/>
          </a:p>
          <a:p>
            <a:r>
              <a:rPr lang="en-US" sz="3200" dirty="0" smtClean="0"/>
              <a:t>Topic : Data handling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555393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lecture students will learn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965915" y="3219718"/>
            <a:ext cx="9014699" cy="2774324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b="1" dirty="0" smtClean="0"/>
              <a:t>How to handle data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b="1" dirty="0" smtClean="0"/>
              <a:t>How to clean data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b="1" dirty="0" smtClean="0"/>
              <a:t>How to pre process data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499803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handling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41232" y="2623371"/>
            <a:ext cx="10517933" cy="2554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In the context of AI and statistics, 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data cleaning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and 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data preprocessing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are the essential steps of turning messy, real-world "raw" data into a polished, high-quality format that machine learning models can understand.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Data scientists and AI engineers often spend 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45% to 60% of their time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on these stages because the performance of any AI model depends entirely on the quality of its input.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00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Cleaning: The "Fixing" Stage</a:t>
            </a:r>
            <a:endParaRPr lang="en-US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515156" y="2364640"/>
            <a:ext cx="11320530" cy="458587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Data cleaning is a 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subset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of preprocessing. It focuses specifically on finding and correcting errors, inconsistencies, and inaccuracies within a dataset. 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Handling Missing Values: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Gaps in data are filled using statistical measures (mean, median, mode) or by removing incomplete rows.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Removing Duplicates: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Redundant entries are identified and deleted to prevent skewed results.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Managing Outliers: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Extreme values that deviate significantly from the rest are identified (using tools like box plots or z-scores) and then either removed, capped, or transformed.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8915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6518" y="785612"/>
            <a:ext cx="1088264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b="1" i="0" dirty="0" smtClean="0">
                <a:solidFill>
                  <a:srgbClr val="0A0A0A"/>
                </a:solidFill>
                <a:effectLst/>
                <a:latin typeface="Google Sans"/>
              </a:rPr>
              <a:t>Fixing Structural Errors:</a:t>
            </a:r>
            <a:r>
              <a:rPr lang="en-US" b="0" i="0" dirty="0" smtClean="0">
                <a:solidFill>
                  <a:srgbClr val="0A0A0A"/>
                </a:solidFill>
                <a:effectLst/>
                <a:latin typeface="Google Sans"/>
              </a:rPr>
              <a:t> Correcting typos, standardizing inconsistent labels (e.g., changing "M" and "Male" to one format), and ensuring dates follow a single convention. </a:t>
            </a:r>
            <a:endParaRPr lang="en-US" b="0" i="0" dirty="0">
              <a:solidFill>
                <a:srgbClr val="0A0A0A"/>
              </a:solidFill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2651468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Preprocessing: The "Preparing" Stage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63827" y="2318296"/>
            <a:ext cx="11476382" cy="45397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Data preprocessing is an 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umbrella term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that includes data cleaning but also covers broader transformations to make the data "model-ready". 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Feature Scaling: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Adjusting numerical data so all features contribute equally. Common methods include 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Normalization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(scaling values to a 0–1 range) and 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Standardization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(adjusting data to have a mean of 0 and a standard deviation of 1).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417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Preprocessing: The "Preparing" Stage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817" y="2205934"/>
            <a:ext cx="11357113" cy="4652065"/>
          </a:xfrm>
        </p:spPr>
        <p:txBody>
          <a:bodyPr>
            <a:normAutofit/>
          </a:bodyPr>
          <a:lstStyle/>
          <a:p>
            <a:pPr marL="0" lvl="0" indent="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b="1" dirty="0">
                <a:solidFill>
                  <a:srgbClr val="0A0A0A"/>
                </a:solidFill>
                <a:latin typeface="Google Sans"/>
              </a:rPr>
              <a:t>Encoding Categorical Variables: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 Converting non-numeric labels (like "Red" or "Blue") into numbers that algorithms can process, often using techniques like </a:t>
            </a:r>
            <a:r>
              <a:rPr lang="en-US" b="1" dirty="0">
                <a:solidFill>
                  <a:srgbClr val="0A0A0A"/>
                </a:solidFill>
                <a:latin typeface="Google Sans"/>
              </a:rPr>
              <a:t>One-Hot Encoding</a:t>
            </a:r>
            <a:r>
              <a:rPr lang="en-US" dirty="0" smtClean="0">
                <a:solidFill>
                  <a:srgbClr val="0A0A0A"/>
                </a:solidFill>
                <a:latin typeface="Google Sans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b="1" dirty="0"/>
              <a:t>Data Reduction:</a:t>
            </a:r>
            <a:r>
              <a:rPr lang="en-US" dirty="0"/>
              <a:t> Simplifying the dataset by removing irrelevant features or using techniques like </a:t>
            </a:r>
            <a:r>
              <a:rPr lang="en-US" b="1" dirty="0"/>
              <a:t>PCA (Principal Component Analysis)</a:t>
            </a:r>
            <a:r>
              <a:rPr lang="en-US" dirty="0"/>
              <a:t> to reduce dimensionality without losing key information.</a:t>
            </a:r>
          </a:p>
          <a:p>
            <a:pPr>
              <a:lnSpc>
                <a:spcPct val="200000"/>
              </a:lnSpc>
            </a:pPr>
            <a:r>
              <a:rPr lang="en-US" b="1" dirty="0"/>
              <a:t>Data Integration:</a:t>
            </a:r>
            <a:r>
              <a:rPr lang="en-US" dirty="0"/>
              <a:t> Merging data from multiple sources (like different databases or APIs) into one coherent dataset.</a:t>
            </a:r>
          </a:p>
          <a:p>
            <a:pPr marL="0" lvl="0" indent="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dirty="0">
              <a:solidFill>
                <a:srgbClr val="0A0A0A"/>
              </a:solidFill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2843583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Comparison Chart: Dirty vs. Clean Data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4955" y="2239135"/>
            <a:ext cx="10126938" cy="449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829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56</TotalTime>
  <Words>85</Words>
  <Application>Microsoft Office PowerPoint</Application>
  <PresentationFormat>Widescreen</PresentationFormat>
  <Paragraphs>24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Century Gothic</vt:lpstr>
      <vt:lpstr>Google Sans</vt:lpstr>
      <vt:lpstr>Wingdings</vt:lpstr>
      <vt:lpstr>Wingdings 3</vt:lpstr>
      <vt:lpstr>Ion Boardroom</vt:lpstr>
      <vt:lpstr>Applied Statistics for AI                   (CMAI 6203 )           Week-2         Lecture-3</vt:lpstr>
      <vt:lpstr>In this lecture students will learn</vt:lpstr>
      <vt:lpstr>Data handling</vt:lpstr>
      <vt:lpstr>Data Cleaning: The "Fixing" Stage</vt:lpstr>
      <vt:lpstr>PowerPoint Presentation</vt:lpstr>
      <vt:lpstr>Data Preprocessing: The "Preparing" Stage</vt:lpstr>
      <vt:lpstr>Data Preprocessing: The "Preparing" Stage</vt:lpstr>
      <vt:lpstr>Comparison Chart: Dirty vs. Clean Data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Applied Statistics for AI                   (CMAI 8888 )           Week-2         Lecture-3</dc:title>
  <dc:creator>Home PC</dc:creator>
  <cp:lastModifiedBy>Home PC</cp:lastModifiedBy>
  <cp:revision>7</cp:revision>
  <dcterms:created xsi:type="dcterms:W3CDTF">2026-02-11T12:14:46Z</dcterms:created>
  <dcterms:modified xsi:type="dcterms:W3CDTF">2026-02-11T13:11:30Z</dcterms:modified>
</cp:coreProperties>
</file>