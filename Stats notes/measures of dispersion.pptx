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1" r:id="rId1"/>
  </p:sldMasterIdLst>
  <p:notesMasterIdLst>
    <p:notesMasterId r:id="rId21"/>
  </p:notesMasterIdLst>
  <p:sldIdLst>
    <p:sldId id="256" r:id="rId2"/>
    <p:sldId id="267" r:id="rId3"/>
    <p:sldId id="268" r:id="rId4"/>
    <p:sldId id="273" r:id="rId5"/>
    <p:sldId id="257" r:id="rId6"/>
    <p:sldId id="269" r:id="rId7"/>
    <p:sldId id="270" r:id="rId8"/>
    <p:sldId id="271" r:id="rId9"/>
    <p:sldId id="274" r:id="rId10"/>
    <p:sldId id="275" r:id="rId11"/>
    <p:sldId id="272" r:id="rId12"/>
    <p:sldId id="261" r:id="rId13"/>
    <p:sldId id="262" r:id="rId14"/>
    <p:sldId id="266" r:id="rId15"/>
    <p:sldId id="278" r:id="rId16"/>
    <p:sldId id="279" r:id="rId17"/>
    <p:sldId id="277" r:id="rId18"/>
    <p:sldId id="280" r:id="rId19"/>
    <p:sldId id="281" r:id="rId20"/>
  </p:sldIdLst>
  <p:sldSz cx="14630400" cy="8229600"/>
  <p:notesSz cx="8229600" cy="14630400"/>
  <p:embeddedFontLst>
    <p:embeddedFont>
      <p:font typeface="Wingdings 3" panose="05040102010807070707" pitchFamily="18" charset="2"/>
      <p:regular r:id="rId22"/>
    </p:embeddedFont>
    <p:embeddedFont>
      <p:font typeface="Cambria Math" panose="02040503050406030204" pitchFamily="18" charset="0"/>
      <p:regular r:id="rId23"/>
    </p:embeddedFont>
    <p:embeddedFont>
      <p:font typeface="Trebuchet MS" panose="020B0603020202020204" pitchFamily="34" charset="0"/>
      <p:regular r:id="rId24"/>
      <p:bold r:id="rId25"/>
      <p:italic r:id="rId26"/>
      <p:boldItalic r:id="rId27"/>
    </p:embeddedFont>
    <p:embeddedFont>
      <p:font typeface="Montserrat Medium" panose="020B0604020202020204" charset="0"/>
      <p:regular r:id="rId28"/>
    </p:embeddedFont>
    <p:embeddedFont>
      <p:font typeface="Calibri" panose="020F0502020204030204" pitchFamily="34" charset="0"/>
      <p:regular r:id="rId29"/>
      <p:bold r:id="rId30"/>
      <p:italic r:id="rId31"/>
      <p:boldItalic r:id="rId3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10"/>
  </p:normalViewPr>
  <p:slideViewPr>
    <p:cSldViewPr snapToGrid="0" snapToObjects="1">
      <p:cViewPr varScale="1">
        <p:scale>
          <a:sx n="60" d="100"/>
          <a:sy n="60" d="100"/>
        </p:scale>
        <p:origin x="68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87802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10160"/>
            <a:ext cx="14630400" cy="823976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08481" y="2885441"/>
            <a:ext cx="9320323" cy="1975562"/>
          </a:xfrm>
        </p:spPr>
        <p:txBody>
          <a:bodyPr anchor="b">
            <a:noAutofit/>
          </a:bodyPr>
          <a:lstStyle>
            <a:lvl1pPr algn="r">
              <a:defRPr sz="648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8481" y="4861000"/>
            <a:ext cx="9320323" cy="131627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4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715166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32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424851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2" y="3241041"/>
            <a:ext cx="10316002" cy="2191897"/>
          </a:xfrm>
        </p:spPr>
        <p:txBody>
          <a:bodyPr anchor="b"/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2" y="5432938"/>
            <a:ext cx="10316002" cy="1032480"/>
          </a:xfrm>
        </p:spPr>
        <p:txBody>
          <a:bodyPr anchor="t"/>
          <a:lstStyle>
            <a:lvl1pPr marL="0" indent="0" algn="l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079768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2801" y="2592707"/>
            <a:ext cx="5020842" cy="465692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07964" y="2592707"/>
            <a:ext cx="5020841" cy="465692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3/12/2026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862092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894" y="2593180"/>
            <a:ext cx="5022748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0894" y="3284695"/>
            <a:ext cx="5022748" cy="396494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06059" y="2593180"/>
            <a:ext cx="5022742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06062" y="3284695"/>
            <a:ext cx="5022740" cy="396494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635486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1" y="731520"/>
            <a:ext cx="10316002" cy="158496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203385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389353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1" y="1798325"/>
            <a:ext cx="4625434" cy="1534159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2554" y="617910"/>
            <a:ext cx="5416249" cy="663172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801" y="3332483"/>
            <a:ext cx="4625434" cy="3101339"/>
          </a:xfrm>
        </p:spPr>
        <p:txBody>
          <a:bodyPr>
            <a:normAutofit/>
          </a:bodyPr>
          <a:lstStyle>
            <a:lvl1pPr marL="0" indent="0">
              <a:buNone/>
              <a:defRPr sz="1680"/>
            </a:lvl1pPr>
            <a:lvl2pPr marL="548476" indent="0">
              <a:buNone/>
              <a:defRPr sz="1680"/>
            </a:lvl2pPr>
            <a:lvl3pPr marL="1096951" indent="0">
              <a:buNone/>
              <a:defRPr sz="1440"/>
            </a:lvl3pPr>
            <a:lvl4pPr marL="1645427" indent="0">
              <a:buNone/>
              <a:defRPr sz="1200"/>
            </a:lvl4pPr>
            <a:lvl5pPr marL="2193901" indent="0">
              <a:buNone/>
              <a:defRPr sz="1200"/>
            </a:lvl5pPr>
            <a:lvl6pPr marL="2742377" indent="0">
              <a:buNone/>
              <a:defRPr sz="1200"/>
            </a:lvl6pPr>
            <a:lvl7pPr marL="3290852" indent="0">
              <a:buNone/>
              <a:defRPr sz="1200"/>
            </a:lvl7pPr>
            <a:lvl8pPr marL="3839328" indent="0">
              <a:buNone/>
              <a:defRPr sz="1200"/>
            </a:lvl8pPr>
            <a:lvl9pPr marL="4387804" indent="0">
              <a:buNone/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3/12/2026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88519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2" y="5760720"/>
            <a:ext cx="10316000" cy="680086"/>
          </a:xfrm>
        </p:spPr>
        <p:txBody>
          <a:bodyPr anchor="b">
            <a:normAutofit/>
          </a:bodyPr>
          <a:lstStyle>
            <a:lvl1pPr algn="l">
              <a:defRPr sz="288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801" y="731520"/>
            <a:ext cx="10316002" cy="4614862"/>
          </a:xfrm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802" y="6440806"/>
            <a:ext cx="10316000" cy="808829"/>
          </a:xfrm>
        </p:spPr>
        <p:txBody>
          <a:bodyPr>
            <a:normAutofit/>
          </a:bodyPr>
          <a:lstStyle>
            <a:lvl1pPr marL="0" indent="0">
              <a:buNone/>
              <a:defRPr sz="144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861218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2" y="731520"/>
            <a:ext cx="10316002" cy="4084320"/>
          </a:xfrm>
        </p:spPr>
        <p:txBody>
          <a:bodyPr anchor="ctr">
            <a:normAutofit/>
          </a:bodyPr>
          <a:lstStyle>
            <a:lvl1pPr algn="l">
              <a:defRPr sz="528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2" y="5364480"/>
            <a:ext cx="10316002" cy="1885154"/>
          </a:xfrm>
        </p:spPr>
        <p:txBody>
          <a:bodyPr anchor="ctr">
            <a:normAutofit/>
          </a:bodyPr>
          <a:lstStyle>
            <a:lvl1pPr marL="0" indent="0" algn="l">
              <a:buNone/>
              <a:defRPr sz="216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678192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7601" y="731520"/>
            <a:ext cx="9712961" cy="3627120"/>
          </a:xfrm>
        </p:spPr>
        <p:txBody>
          <a:bodyPr anchor="ctr">
            <a:normAutofit/>
          </a:bodyPr>
          <a:lstStyle>
            <a:lvl1pPr algn="l">
              <a:defRPr sz="528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39367" y="4358640"/>
            <a:ext cx="8669429" cy="4572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92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48640" indent="0">
              <a:buFontTx/>
              <a:buNone/>
              <a:defRPr/>
            </a:lvl2pPr>
            <a:lvl3pPr marL="1097280" indent="0">
              <a:buFontTx/>
              <a:buNone/>
              <a:defRPr/>
            </a:lvl3pPr>
            <a:lvl4pPr marL="1645920" indent="0">
              <a:buFontTx/>
              <a:buNone/>
              <a:defRPr/>
            </a:lvl4pPr>
            <a:lvl5pPr marL="219456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2" y="5364480"/>
            <a:ext cx="10316002" cy="1885154"/>
          </a:xfrm>
        </p:spPr>
        <p:txBody>
          <a:bodyPr anchor="ctr">
            <a:normAutofit/>
          </a:bodyPr>
          <a:lstStyle>
            <a:lvl1pPr marL="0" indent="0" algn="l">
              <a:buNone/>
              <a:defRPr sz="216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650244" y="948454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71613" y="3463867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2160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4529938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2" y="2318386"/>
            <a:ext cx="10316002" cy="3114552"/>
          </a:xfrm>
        </p:spPr>
        <p:txBody>
          <a:bodyPr anchor="b">
            <a:normAutofit/>
          </a:bodyPr>
          <a:lstStyle>
            <a:lvl1pPr algn="l">
              <a:defRPr sz="528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2" y="5432938"/>
            <a:ext cx="10316002" cy="1816697"/>
          </a:xfrm>
        </p:spPr>
        <p:txBody>
          <a:bodyPr anchor="t">
            <a:normAutofit/>
          </a:bodyPr>
          <a:lstStyle>
            <a:lvl1pPr marL="0" indent="0" algn="l">
              <a:buNone/>
              <a:defRPr sz="216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6164629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7601" y="731520"/>
            <a:ext cx="9712961" cy="3627120"/>
          </a:xfrm>
        </p:spPr>
        <p:txBody>
          <a:bodyPr anchor="ctr">
            <a:normAutofit/>
          </a:bodyPr>
          <a:lstStyle>
            <a:lvl1pPr algn="l">
              <a:defRPr sz="528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12799" y="4815840"/>
            <a:ext cx="10316003" cy="61709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88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48640" indent="0">
              <a:buFontTx/>
              <a:buNone/>
              <a:defRPr/>
            </a:lvl2pPr>
            <a:lvl3pPr marL="1097280" indent="0">
              <a:buFontTx/>
              <a:buNone/>
              <a:defRPr/>
            </a:lvl3pPr>
            <a:lvl4pPr marL="1645920" indent="0">
              <a:buFontTx/>
              <a:buNone/>
              <a:defRPr/>
            </a:lvl4pPr>
            <a:lvl5pPr marL="219456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2" y="5432938"/>
            <a:ext cx="10316002" cy="1816697"/>
          </a:xfrm>
        </p:spPr>
        <p:txBody>
          <a:bodyPr anchor="t">
            <a:normAutofit/>
          </a:bodyPr>
          <a:lstStyle>
            <a:lvl1pPr marL="0" indent="0" algn="l">
              <a:buNone/>
              <a:defRPr sz="216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650244" y="948454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71613" y="3463867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72399000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59" y="731520"/>
            <a:ext cx="10305844" cy="3627120"/>
          </a:xfrm>
        </p:spPr>
        <p:txBody>
          <a:bodyPr anchor="ctr">
            <a:normAutofit/>
          </a:bodyPr>
          <a:lstStyle>
            <a:lvl1pPr algn="l">
              <a:defRPr sz="528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12799" y="4815840"/>
            <a:ext cx="10316003" cy="61709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880">
                <a:solidFill>
                  <a:schemeClr val="accent1"/>
                </a:solidFill>
              </a:defRPr>
            </a:lvl1pPr>
            <a:lvl2pPr marL="548640" indent="0">
              <a:buFontTx/>
              <a:buNone/>
              <a:defRPr/>
            </a:lvl2pPr>
            <a:lvl3pPr marL="1097280" indent="0">
              <a:buFontTx/>
              <a:buNone/>
              <a:defRPr/>
            </a:lvl3pPr>
            <a:lvl4pPr marL="1645920" indent="0">
              <a:buFontTx/>
              <a:buNone/>
              <a:defRPr/>
            </a:lvl4pPr>
            <a:lvl5pPr marL="219456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2" y="5432938"/>
            <a:ext cx="10316002" cy="1816697"/>
          </a:xfrm>
        </p:spPr>
        <p:txBody>
          <a:bodyPr anchor="t">
            <a:normAutofit/>
          </a:bodyPr>
          <a:lstStyle>
            <a:lvl1pPr marL="0" indent="0" algn="l">
              <a:buNone/>
              <a:defRPr sz="216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1077023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3/12/2026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1173159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61208" y="731520"/>
            <a:ext cx="1565692" cy="630174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2" y="731520"/>
            <a:ext cx="8472180" cy="630174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7055412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91234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933750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184470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30993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22557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10160"/>
            <a:ext cx="14630400" cy="823976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1" y="731520"/>
            <a:ext cx="10316002" cy="15849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1" y="2592707"/>
            <a:ext cx="10316002" cy="4656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46160" y="7249635"/>
            <a:ext cx="1094327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12801" y="7249635"/>
            <a:ext cx="7557134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08796" y="7249635"/>
            <a:ext cx="820007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5444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3" r:id="rId19"/>
    <p:sldLayoutId id="2147483684" r:id="rId20"/>
    <p:sldLayoutId id="2147483688" r:id="rId21"/>
  </p:sldLayoutIdLst>
  <p:hf sldNum="0" hdr="0" ftr="0" dt="0"/>
  <p:txStyles>
    <p:titleStyle>
      <a:lvl1pPr algn="l" defTabSz="548640" rtl="0" eaLnBrk="1" latinLnBrk="0" hangingPunct="1">
        <a:spcBef>
          <a:spcPct val="0"/>
        </a:spcBef>
        <a:buNone/>
        <a:defRPr sz="432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411480" indent="-41148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16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891540" indent="-34290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92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37160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92024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46888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301752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356616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411480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466344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49260" y="3943588"/>
            <a:ext cx="7645479" cy="342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endParaRPr lang="en-US" sz="1650" dirty="0"/>
          </a:p>
        </p:txBody>
      </p:sp>
      <p:sp>
        <p:nvSpPr>
          <p:cNvPr id="4" name="TextBox 3"/>
          <p:cNvSpPr txBox="1"/>
          <p:nvPr/>
        </p:nvSpPr>
        <p:spPr>
          <a:xfrm>
            <a:off x="561474" y="1620253"/>
            <a:ext cx="8165431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accent2"/>
                </a:solidFill>
              </a:rPr>
              <a:t>Applied Statistics for AI	</a:t>
            </a:r>
            <a:br>
              <a:rPr lang="en-US" sz="4800" dirty="0">
                <a:solidFill>
                  <a:schemeClr val="accent2"/>
                </a:solidFill>
              </a:rPr>
            </a:br>
            <a:r>
              <a:rPr lang="en-US" sz="4800" dirty="0">
                <a:solidFill>
                  <a:schemeClr val="accent2"/>
                </a:solidFill>
              </a:rPr>
              <a:t>                 (</a:t>
            </a:r>
            <a:r>
              <a:rPr lang="en-US" sz="4400" dirty="0">
                <a:solidFill>
                  <a:schemeClr val="accent2"/>
                </a:solidFill>
              </a:rPr>
              <a:t>CMAI 6203 )</a:t>
            </a:r>
            <a:r>
              <a:rPr lang="en-US" sz="4800" dirty="0">
                <a:solidFill>
                  <a:schemeClr val="accent2"/>
                </a:solidFill>
              </a:rPr>
              <a:t>				</a:t>
            </a:r>
            <a:br>
              <a:rPr lang="en-US" sz="4800" dirty="0">
                <a:solidFill>
                  <a:schemeClr val="accent2"/>
                </a:solidFill>
              </a:rPr>
            </a:br>
            <a:r>
              <a:rPr lang="en-US" sz="4800" dirty="0">
                <a:solidFill>
                  <a:schemeClr val="accent2"/>
                </a:solidFill>
              </a:rPr>
              <a:t> </a:t>
            </a:r>
            <a:endParaRPr lang="en-US" sz="4800" dirty="0" smtClean="0">
              <a:solidFill>
                <a:schemeClr val="accent2"/>
              </a:solidFill>
            </a:endParaRPr>
          </a:p>
          <a:p>
            <a:endParaRPr lang="en-US" sz="4800" dirty="0">
              <a:solidFill>
                <a:schemeClr val="accent2"/>
              </a:solidFill>
            </a:endParaRPr>
          </a:p>
          <a:p>
            <a:r>
              <a:rPr lang="en-US" sz="4800" dirty="0" smtClean="0">
                <a:solidFill>
                  <a:schemeClr val="accent2"/>
                </a:solidFill>
              </a:rPr>
              <a:t>Week-5 </a:t>
            </a:r>
            <a:r>
              <a:rPr lang="en-US" sz="4800" dirty="0" smtClean="0">
                <a:solidFill>
                  <a:schemeClr val="accent2"/>
                </a:solidFill>
              </a:rPr>
              <a:t>:</a:t>
            </a:r>
            <a:r>
              <a:rPr lang="en-US" sz="4800" dirty="0" smtClean="0">
                <a:solidFill>
                  <a:schemeClr val="accent2"/>
                </a:solidFill>
              </a:rPr>
              <a:t>EDA</a:t>
            </a:r>
          </a:p>
          <a:p>
            <a:endParaRPr lang="en-US" sz="4800" dirty="0" smtClean="0">
              <a:solidFill>
                <a:schemeClr val="accent2"/>
              </a:solidFill>
            </a:endParaRPr>
          </a:p>
          <a:p>
            <a:r>
              <a:rPr lang="en-US" sz="4800" dirty="0" smtClean="0">
                <a:solidFill>
                  <a:schemeClr val="accent2"/>
                </a:solidFill>
              </a:rPr>
              <a:t>   Measures of Dispersion</a:t>
            </a:r>
            <a:endParaRPr lang="en-US" sz="480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9811" y="962526"/>
            <a:ext cx="125449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>
                <a:solidFill>
                  <a:schemeClr val="accent1"/>
                </a:solidFill>
              </a:rPr>
              <a:t>Preambles:</a:t>
            </a: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98358" y="2454442"/>
            <a:ext cx="1325077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000" dirty="0" smtClean="0"/>
              <a:t>Basic terminologies of Statistics used in AI</a:t>
            </a:r>
          </a:p>
          <a:p>
            <a:pPr>
              <a:lnSpc>
                <a:spcPct val="150000"/>
              </a:lnSpc>
            </a:pPr>
            <a:r>
              <a:rPr lang="en-US" sz="4000" dirty="0" smtClean="0"/>
              <a:t>Measures of Central tendency 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889921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9811" y="962526"/>
            <a:ext cx="12544926" cy="7771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5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Dispersion: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8358" y="1828803"/>
            <a:ext cx="13250779" cy="3695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200" b="1" dirty="0"/>
              <a:t>dispersion</a:t>
            </a:r>
            <a:r>
              <a:rPr lang="en-US" sz="3200" dirty="0"/>
              <a:t> is primarily a statistical concept used to measure the "spread" or variability of data within a dataset. It is a critical counterpart to measures of central tendency (like the mean), providing essential context for model training, evaluation, and reliability.</a:t>
            </a:r>
            <a:r>
              <a:rPr lang="en-US" sz="2400" dirty="0"/>
              <a:t> </a:t>
            </a: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985896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26695" y="802105"/>
            <a:ext cx="9946105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Dispersion quantifies how much data points deviate from a central value. In AI and Machine Learning (ML), this helps developers understand the diversity and consistency of their training data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695" y="2678423"/>
            <a:ext cx="10134184" cy="446031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87221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260" y="2022277"/>
            <a:ext cx="9465350" cy="713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Why Data Dispersion Matters in AI</a:t>
            </a:r>
            <a:endParaRPr lang="en-US" sz="445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749260" y="3163967"/>
            <a:ext cx="4234577" cy="4776875"/>
          </a:xfrm>
          <a:prstGeom prst="roundRect">
            <a:avLst>
              <a:gd name="adj" fmla="val 4808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sp>
      <p:sp>
        <p:nvSpPr>
          <p:cNvPr id="4" name="Shape 2"/>
          <p:cNvSpPr/>
          <p:nvPr/>
        </p:nvSpPr>
        <p:spPr>
          <a:xfrm>
            <a:off x="718780" y="3163967"/>
            <a:ext cx="121920" cy="3043237"/>
          </a:xfrm>
          <a:prstGeom prst="roundRect">
            <a:avLst>
              <a:gd name="adj" fmla="val 26342"/>
            </a:avLst>
          </a:prstGeom>
          <a:solidFill>
            <a:srgbClr val="FFB393"/>
          </a:solidFill>
          <a:ln/>
        </p:spPr>
      </p:sp>
      <p:sp>
        <p:nvSpPr>
          <p:cNvPr id="5" name="Text 3"/>
          <p:cNvSpPr/>
          <p:nvPr/>
        </p:nvSpPr>
        <p:spPr>
          <a:xfrm>
            <a:off x="1085255" y="3408521"/>
            <a:ext cx="3106579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Revealing Data Spread</a:t>
            </a:r>
            <a:endParaRPr lang="en-US" sz="2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Text 4"/>
          <p:cNvSpPr/>
          <p:nvPr/>
        </p:nvSpPr>
        <p:spPr>
          <a:xfrm>
            <a:off x="1085255" y="3893701"/>
            <a:ext cx="3654028" cy="1712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Dispersion reveals how data points spread around averages, which is crucial for building accurate AI models. It helps us see beyond just the mean.</a:t>
            </a:r>
            <a:endParaRPr lang="en-US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Shape 5"/>
          <p:cNvSpPr/>
          <p:nvPr/>
        </p:nvSpPr>
        <p:spPr>
          <a:xfrm>
            <a:off x="5197912" y="3163967"/>
            <a:ext cx="4234577" cy="4776875"/>
          </a:xfrm>
          <a:prstGeom prst="roundRect">
            <a:avLst>
              <a:gd name="adj" fmla="val 4808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sp>
      <p:sp>
        <p:nvSpPr>
          <p:cNvPr id="8" name="Shape 6"/>
          <p:cNvSpPr/>
          <p:nvPr/>
        </p:nvSpPr>
        <p:spPr>
          <a:xfrm>
            <a:off x="5167432" y="3163967"/>
            <a:ext cx="121920" cy="3043237"/>
          </a:xfrm>
          <a:prstGeom prst="roundRect">
            <a:avLst>
              <a:gd name="adj" fmla="val 26342"/>
            </a:avLst>
          </a:prstGeom>
          <a:solidFill>
            <a:srgbClr val="FFB393"/>
          </a:solidFill>
          <a:ln/>
        </p:spPr>
      </p:sp>
      <p:sp>
        <p:nvSpPr>
          <p:cNvPr id="9" name="Text 7"/>
          <p:cNvSpPr/>
          <p:nvPr/>
        </p:nvSpPr>
        <p:spPr>
          <a:xfrm>
            <a:off x="5533906" y="3408521"/>
            <a:ext cx="3051215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Identifying Variability</a:t>
            </a:r>
            <a:endParaRPr lang="en-US" sz="2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Text 8"/>
          <p:cNvSpPr/>
          <p:nvPr/>
        </p:nvSpPr>
        <p:spPr>
          <a:xfrm>
            <a:off x="5533906" y="3893701"/>
            <a:ext cx="3654028" cy="1712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High variability can signal noise, highlight outliers, or indicate diverse underlying patterns that significantly impact predictive accuracy.</a:t>
            </a:r>
          </a:p>
        </p:txBody>
      </p:sp>
      <p:sp>
        <p:nvSpPr>
          <p:cNvPr id="11" name="Shape 9"/>
          <p:cNvSpPr/>
          <p:nvPr/>
        </p:nvSpPr>
        <p:spPr>
          <a:xfrm>
            <a:off x="9646563" y="3163967"/>
            <a:ext cx="4234577" cy="4776875"/>
          </a:xfrm>
          <a:prstGeom prst="roundRect">
            <a:avLst>
              <a:gd name="adj" fmla="val 4808"/>
            </a:avLst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sp>
      <p:sp>
        <p:nvSpPr>
          <p:cNvPr id="12" name="Shape 10"/>
          <p:cNvSpPr/>
          <p:nvPr/>
        </p:nvSpPr>
        <p:spPr>
          <a:xfrm>
            <a:off x="9616083" y="3163967"/>
            <a:ext cx="121920" cy="3043237"/>
          </a:xfrm>
          <a:prstGeom prst="roundRect">
            <a:avLst>
              <a:gd name="adj" fmla="val 26342"/>
            </a:avLst>
          </a:prstGeom>
          <a:solidFill>
            <a:srgbClr val="FFB393"/>
          </a:solidFill>
          <a:ln/>
        </p:spPr>
      </p:sp>
      <p:sp>
        <p:nvSpPr>
          <p:cNvPr id="13" name="Text 11"/>
          <p:cNvSpPr/>
          <p:nvPr/>
        </p:nvSpPr>
        <p:spPr>
          <a:xfrm>
            <a:off x="9982557" y="3408521"/>
            <a:ext cx="3654028" cy="713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Enhancing Decision-Making</a:t>
            </a:r>
            <a:endParaRPr lang="en-US" sz="2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Text 12"/>
          <p:cNvSpPr/>
          <p:nvPr/>
        </p:nvSpPr>
        <p:spPr>
          <a:xfrm>
            <a:off x="9982557" y="4250531"/>
            <a:ext cx="3654028" cy="1712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650"/>
              </a:lnSpc>
              <a:buNone/>
            </a:pP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Understanding dispersion helps improve data quality, increases model robustness, and leads to more informed, reliable decision-making in AI applications.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18148" y="494560"/>
            <a:ext cx="13250779" cy="760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600"/>
              </a:lnSpc>
            </a:pPr>
            <a:r>
              <a:rPr lang="en-US" sz="445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Core Measures of Data Dispersion are: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5187" y="1950984"/>
            <a:ext cx="9408645" cy="4509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662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18148" y="494560"/>
            <a:ext cx="13250779" cy="1478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600"/>
              </a:lnSpc>
            </a:pPr>
            <a:r>
              <a:rPr lang="en-US" sz="445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Core Measures of Data Dispersion are:</a:t>
            </a:r>
          </a:p>
          <a:p>
            <a:pPr>
              <a:lnSpc>
                <a:spcPts val="5600"/>
              </a:lnSpc>
            </a:pPr>
            <a:endParaRPr lang="en-US" sz="445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Brygada 1918 Bold" pitchFamily="34" charset="0"/>
              <a:ea typeface="Brygada 1918 Bold" pitchFamily="34" charset="-122"/>
              <a:cs typeface="Brygada 1918 Bold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87116" y="1941096"/>
            <a:ext cx="11839073" cy="1064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800" dirty="0" smtClean="0"/>
              <a:t>Range=max value-Min value</a:t>
            </a:r>
          </a:p>
        </p:txBody>
      </p:sp>
    </p:spTree>
    <p:extLst>
      <p:ext uri="{BB962C8B-B14F-4D97-AF65-F5344CB8AC3E}">
        <p14:creationId xmlns:p14="http://schemas.microsoft.com/office/powerpoint/2010/main" val="284544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18148" y="494560"/>
            <a:ext cx="13250779" cy="760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600"/>
              </a:lnSpc>
            </a:pPr>
            <a:r>
              <a:rPr lang="en-US" sz="445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Core Measures of Data Dispersion are: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818149" y="1572127"/>
                <a:ext cx="4315326" cy="58594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4450" b="1" dirty="0">
                    <a:ln w="22225">
                      <a:solidFill>
                        <a:schemeClr val="accent2"/>
                      </a:solidFill>
                      <a:prstDash val="solid"/>
                    </a:ln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Brygada 1918 Bold" pitchFamily="34" charset="0"/>
                    <a:ea typeface="Brygada 1918 Bold" pitchFamily="34" charset="-122"/>
                    <a:cs typeface="Brygada 1918 Bold" pitchFamily="34" charset="-120"/>
                  </a:rPr>
                  <a:t>Standard Deviation </a:t>
                </a:r>
              </a:p>
              <a:p>
                <a:r>
                  <a:rPr lang="en-US" b="1" dirty="0"/>
                  <a:t>S=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limLoc m:val="undOvr"/>
                                <m:subHide m:val="on"/>
                                <m:supHide m:val="on"/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sSup>
                                  <m:sSupPr>
                                    <m:ctrl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𝑿</m:t>
                                    </m:r>
                                  </m:e>
                                  <m:sup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e>
                            </m:nary>
                          </m:num>
                          <m:den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den>
                        </m:f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nary>
                                      <m:naryPr>
                                        <m:chr m:val="∑"/>
                                        <m:limLoc m:val="undOvr"/>
                                        <m:subHide m:val="on"/>
                                        <m:supHide m:val="on"/>
                                        <m:ctrlPr>
                                          <a:rPr lang="en-US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/>
                                      <m:sup/>
                                      <m:e>
                                        <m:r>
                                          <a:rPr lang="en-US" b="1" i="1">
                                            <a:latin typeface="Cambria Math" panose="02040503050406030204" pitchFamily="18" charset="0"/>
                                          </a:rPr>
                                          <m:t>𝑿</m:t>
                                        </m:r>
                                      </m:e>
                                    </m:nary>
                                  </m:num>
                                  <m:den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b="1" dirty="0"/>
                  <a:t>	</a:t>
                </a:r>
                <a:r>
                  <a:rPr lang="en-US" b="1" dirty="0" smtClean="0"/>
                  <a:t>for </a:t>
                </a:r>
                <a:r>
                  <a:rPr lang="en-US" b="1" dirty="0"/>
                  <a:t>Un-group </a:t>
                </a:r>
                <a:r>
                  <a:rPr lang="en-US" b="1" dirty="0" smtClean="0"/>
                  <a:t>data</a:t>
                </a:r>
              </a:p>
              <a:p>
                <a:endParaRPr lang="en-US" b="1" dirty="0"/>
              </a:p>
              <a:p>
                <a:endParaRPr lang="en-US" b="1" dirty="0" smtClean="0"/>
              </a:p>
              <a:p>
                <a:endParaRPr lang="en-US" dirty="0"/>
              </a:p>
              <a:p>
                <a:r>
                  <a:rPr lang="en-US" b="1" dirty="0"/>
                  <a:t> </a:t>
                </a:r>
                <a:endParaRPr lang="en-US" dirty="0"/>
              </a:p>
              <a:p>
                <a:r>
                  <a:rPr lang="en-US" b="1" dirty="0"/>
                  <a:t>S=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limLoc m:val="undOvr"/>
                                <m:subHide m:val="on"/>
                                <m:supHide m:val="on"/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  <m:sSup>
                                  <m:sSupPr>
                                    <m:ctrl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𝑿</m:t>
                                    </m:r>
                                  </m:e>
                                  <m:sup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e>
                            </m:nary>
                          </m:num>
                          <m:den>
                            <m:nary>
                              <m:naryPr>
                                <m:chr m:val="∑"/>
                                <m:limLoc m:val="undOvr"/>
                                <m:subHide m:val="on"/>
                                <m:supHide m:val="on"/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</m:e>
                            </m:nary>
                          </m:den>
                        </m:f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nary>
                                      <m:naryPr>
                                        <m:chr m:val="∑"/>
                                        <m:limLoc m:val="undOvr"/>
                                        <m:subHide m:val="on"/>
                                        <m:supHide m:val="on"/>
                                        <m:ctrlPr>
                                          <a:rPr lang="en-US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/>
                                      <m:sup/>
                                      <m:e>
                                        <m:r>
                                          <a:rPr lang="en-US" b="1" i="1">
                                            <a:latin typeface="Cambria Math" panose="02040503050406030204" pitchFamily="18" charset="0"/>
                                          </a:rPr>
                                          <m:t>𝒇𝑿</m:t>
                                        </m:r>
                                      </m:e>
                                    </m:nary>
                                  </m:num>
                                  <m:den>
                                    <m:nary>
                                      <m:naryPr>
                                        <m:chr m:val="∑"/>
                                        <m:limLoc m:val="undOvr"/>
                                        <m:subHide m:val="on"/>
                                        <m:supHide m:val="on"/>
                                        <m:ctrlPr>
                                          <a:rPr lang="en-US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/>
                                      <m:sup/>
                                      <m:e>
                                        <m:r>
                                          <a:rPr lang="en-US" b="1" i="1">
                                            <a:latin typeface="Cambria Math" panose="02040503050406030204" pitchFamily="18" charset="0"/>
                                          </a:rPr>
                                          <m:t>𝒇</m:t>
                                        </m:r>
                                      </m:e>
                                    </m:nary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rad>
                  </m:oMath>
                </a14:m>
                <a:r>
                  <a:rPr lang="en-US" b="1" dirty="0" smtClean="0"/>
                  <a:t>   for </a:t>
                </a:r>
                <a:r>
                  <a:rPr lang="en-US" b="1" dirty="0"/>
                  <a:t>Group data</a:t>
                </a:r>
                <a:endParaRPr lang="en-US" dirty="0"/>
              </a:p>
              <a:p>
                <a:pPr>
                  <a:lnSpc>
                    <a:spcPct val="150000"/>
                  </a:lnSpc>
                </a:pPr>
                <a:endParaRPr lang="en-US" sz="2800" dirty="0" smtClean="0"/>
              </a:p>
              <a:p>
                <a:pPr>
                  <a:lnSpc>
                    <a:spcPct val="150000"/>
                  </a:lnSpc>
                </a:pPr>
                <a:r>
                  <a:rPr lang="en-US" sz="3600" dirty="0" smtClean="0"/>
                  <a:t> </a:t>
                </a:r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149" y="1572127"/>
                <a:ext cx="4315326" cy="5859425"/>
              </a:xfrm>
              <a:prstGeom prst="rect">
                <a:avLst/>
              </a:prstGeom>
              <a:blipFill>
                <a:blip r:embed="rId2"/>
                <a:stretch>
                  <a:fillRect l="-11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9024" y="1892968"/>
            <a:ext cx="6417517" cy="4242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275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/>
              <p:cNvSpPr/>
              <p:nvPr/>
            </p:nvSpPr>
            <p:spPr>
              <a:xfrm>
                <a:off x="850232" y="1620254"/>
                <a:ext cx="4780547" cy="39079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4450" b="1" dirty="0">
                    <a:ln w="22225">
                      <a:solidFill>
                        <a:schemeClr val="accent2"/>
                      </a:solidFill>
                      <a:prstDash val="solid"/>
                    </a:ln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Brygada 1918 Bold" pitchFamily="34" charset="0"/>
                    <a:ea typeface="Brygada 1918 Bold" pitchFamily="34" charset="-122"/>
                    <a:cs typeface="Brygada 1918 Bold" pitchFamily="34" charset="-120"/>
                  </a:rPr>
                  <a:t>Variance: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dirty="0"/>
                  <a:t>variance is the square of Standard Deviation.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b="1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limLoc m:val="undOvr"/>
                            <m:subHide m:val="on"/>
                            <m:supHide m:val="on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p>
                              <m:sSupPr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p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</m:e>
                        </m:nary>
                      </m:num>
                      <m:den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𝒏</m:t>
                        </m:r>
                      </m:den>
                    </m:f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nary>
                                  <m:naryPr>
                                    <m:chr m:val="∑"/>
                                    <m:limLoc m:val="undOvr"/>
                                    <m:subHide m:val="on"/>
                                    <m:supHide m:val="on"/>
                                    <m:ctrl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/>
                                  <m:sup/>
                                  <m:e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𝑿</m:t>
                                    </m:r>
                                  </m:e>
                                </m:nary>
                              </m:num>
                              <m:den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b="1" dirty="0" smtClean="0"/>
                  <a:t> </a:t>
                </a:r>
                <a:r>
                  <a:rPr lang="en-US" b="1" dirty="0"/>
                  <a:t>for Un group </a:t>
                </a:r>
                <a:r>
                  <a:rPr lang="en-US" b="1" dirty="0" smtClean="0"/>
                  <a:t>data</a:t>
                </a:r>
              </a:p>
              <a:p>
                <a:endParaRPr lang="en-US" dirty="0"/>
              </a:p>
              <a:p>
                <a:r>
                  <a:rPr lang="en-US" dirty="0"/>
                  <a:t>      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limLoc m:val="undOvr"/>
                            <m:subHide m:val="on"/>
                            <m:supHide m:val="on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𝒇</m:t>
                            </m:r>
                            <m:sSup>
                              <m:sSupPr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p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limLoc m:val="undOvr"/>
                            <m:subHide m:val="on"/>
                            <m:supHide m:val="on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</m:nary>
                      </m:den>
                    </m:f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nary>
                                  <m:naryPr>
                                    <m:chr m:val="∑"/>
                                    <m:limLoc m:val="undOvr"/>
                                    <m:subHide m:val="on"/>
                                    <m:supHide m:val="on"/>
                                    <m:ctrl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/>
                                  <m:sup/>
                                  <m:e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𝒇𝑿</m:t>
                                    </m:r>
                                  </m:e>
                                </m:nary>
                              </m:num>
                              <m:den>
                                <m:nary>
                                  <m:naryPr>
                                    <m:chr m:val="∑"/>
                                    <m:limLoc m:val="undOvr"/>
                                    <m:subHide m:val="on"/>
                                    <m:supHide m:val="on"/>
                                    <m:ctrl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/>
                                  <m:sup/>
                                  <m:e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</m:nary>
                              </m:den>
                            </m:f>
                          </m:e>
                        </m:d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b="1" dirty="0" smtClean="0"/>
                  <a:t>   for </a:t>
                </a:r>
                <a:r>
                  <a:rPr lang="en-US" b="1" dirty="0"/>
                  <a:t>Group data</a:t>
                </a:r>
                <a:endParaRPr lang="en-US" dirty="0"/>
              </a:p>
              <a:p>
                <a:pPr>
                  <a:lnSpc>
                    <a:spcPct val="150000"/>
                  </a:lnSpc>
                </a:pPr>
                <a:endParaRPr lang="en-US" dirty="0"/>
              </a:p>
            </p:txBody>
          </p:sp>
        </mc:Choice>
        <mc:Fallback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232" y="1620254"/>
                <a:ext cx="4780547" cy="3907929"/>
              </a:xfrm>
              <a:prstGeom prst="rect">
                <a:avLst/>
              </a:prstGeom>
              <a:blipFill>
                <a:blip r:embed="rId2"/>
                <a:stretch>
                  <a:fillRect l="-10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5329" y="1155031"/>
            <a:ext cx="5171929" cy="5325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755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gif;base64,R0lGODlhAQABAIAAAP///wAAACH5BAEAAAAALAAAAAABAAEAAAICRAEAOw=="/>
          <p:cNvSpPr>
            <a:spLocks noChangeAspect="1" noChangeArrowheads="1"/>
          </p:cNvSpPr>
          <p:nvPr/>
        </p:nvSpPr>
        <p:spPr bwMode="auto">
          <a:xfrm>
            <a:off x="4054475" y="-2108358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AutoShape 3" descr="data:image/gif;base64,R0lGODlhAQABAIAAAP///wAAACH5BAEAAAAALAAAAAABAAEAAAICRAEAOw=="/>
          <p:cNvSpPr>
            <a:spLocks noChangeAspect="1" noChangeArrowheads="1"/>
          </p:cNvSpPr>
          <p:nvPr/>
        </p:nvSpPr>
        <p:spPr bwMode="auto">
          <a:xfrm>
            <a:off x="4054475" y="1301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81263" y="434975"/>
            <a:ext cx="9625263" cy="7771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5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Inter Quartile Range</a:t>
            </a:r>
            <a:endParaRPr lang="en-US" sz="445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Brygada 1918 Bold" pitchFamily="34" charset="0"/>
              <a:ea typeface="Brygada 1918 Bold" pitchFamily="34" charset="-122"/>
              <a:cs typeface="Brygada 1918 Bold" pitchFamily="34" charset="-12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81263" y="1515479"/>
            <a:ext cx="4613251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The interquartile range (IQR) is a statistical measure that represents the spread of the middle 50% of a dataset. It is calculated by subtracting the first quartile </a:t>
            </a:r>
            <a:r>
              <a:rPr lang="en-US" dirty="0" smtClean="0"/>
              <a:t>(Q1) from </a:t>
            </a:r>
            <a:r>
              <a:rPr lang="en-US" dirty="0"/>
              <a:t>the third quartile </a:t>
            </a:r>
            <a:r>
              <a:rPr lang="en-US" dirty="0" smtClean="0"/>
              <a:t>(Q3).</a:t>
            </a:r>
          </a:p>
          <a:p>
            <a:pPr algn="just">
              <a:lnSpc>
                <a:spcPct val="150000"/>
              </a:lnSpc>
            </a:pPr>
            <a:r>
              <a:rPr lang="en-US" sz="2800" b="1" dirty="0" smtClean="0"/>
              <a:t>IQR=Q3-Q1</a:t>
            </a:r>
          </a:p>
          <a:p>
            <a:pPr algn="just">
              <a:lnSpc>
                <a:spcPct val="150000"/>
              </a:lnSpc>
            </a:pPr>
            <a:endParaRPr lang="en-US" dirty="0" smtClean="0"/>
          </a:p>
          <a:p>
            <a:pPr algn="just">
              <a:lnSpc>
                <a:spcPct val="150000"/>
              </a:lnSpc>
            </a:pPr>
            <a:endParaRPr lang="en-US" dirty="0"/>
          </a:p>
          <a:p>
            <a:pPr algn="just">
              <a:lnSpc>
                <a:spcPct val="150000"/>
              </a:lnSpc>
            </a:pPr>
            <a:r>
              <a:rPr lang="en-US" dirty="0" smtClean="0"/>
              <a:t>Common use of IQR are: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Outlier detection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Comparison of datasets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9274" y="4242780"/>
            <a:ext cx="6887427" cy="3186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114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18148" y="494560"/>
            <a:ext cx="13250779" cy="760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600"/>
              </a:lnSpc>
            </a:pPr>
            <a:r>
              <a:rPr lang="en-US" sz="4450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Measure of Consistency of data:</a:t>
            </a:r>
            <a:endParaRPr lang="en-US" sz="445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Brygada 1918 Bold" pitchFamily="34" charset="0"/>
              <a:ea typeface="Brygada 1918 Bold" pitchFamily="34" charset="-122"/>
              <a:cs typeface="Brygada 1918 Bold" pitchFamily="34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1411705" y="1973179"/>
                <a:ext cx="9561095" cy="205165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R="0" lv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3200" kern="1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Coefficient of variation</a:t>
                </a:r>
                <a:endParaRPr lang="en-US" sz="24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1066800" marR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3200" kern="1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  <a:endParaRPr lang="en-US" sz="24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1066800" marR="0">
                  <a:lnSpc>
                    <a:spcPct val="115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3200" kern="1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C.V=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b="1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3200" b="1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𝑺𝒕𝒂𝒏𝒅𝒂𝒓𝒅</m:t>
                        </m:r>
                        <m:r>
                          <a:rPr lang="en-US" sz="3200" b="1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sz="3200" b="1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𝒅𝒆𝒗𝒊𝒂𝒕𝒊𝒐𝒏</m:t>
                        </m:r>
                      </m:num>
                      <m:den>
                        <m:r>
                          <a:rPr lang="en-US" sz="3200" b="1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𝑨𝒓𝒊𝒕𝒉𝒎𝒆𝒕𝒊𝒄</m:t>
                        </m:r>
                        <m:r>
                          <a:rPr lang="en-US" sz="3200" b="1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sz="3200" b="1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𝒎𝒆𝒂𝒏</m:t>
                        </m:r>
                      </m:den>
                    </m:f>
                  </m:oMath>
                </a14:m>
                <a:r>
                  <a:rPr lang="en-US" sz="3200" b="1" kern="100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X 100%</a:t>
                </a:r>
                <a:endParaRPr lang="en-US" sz="24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1705" y="1973179"/>
                <a:ext cx="9561095" cy="2051652"/>
              </a:xfrm>
              <a:prstGeom prst="rect">
                <a:avLst/>
              </a:prstGeom>
              <a:blipFill>
                <a:blip r:embed="rId2"/>
                <a:stretch>
                  <a:fillRect l="-1658" t="-1786" b="-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921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78299" y="795338"/>
            <a:ext cx="7787402" cy="1292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Dispersion Challenges in AI Datasets</a:t>
            </a:r>
            <a:endParaRPr lang="en-US" sz="405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Shape 1"/>
          <p:cNvSpPr/>
          <p:nvPr/>
        </p:nvSpPr>
        <p:spPr>
          <a:xfrm>
            <a:off x="678299" y="2350532"/>
            <a:ext cx="3805952" cy="3206472"/>
          </a:xfrm>
          <a:prstGeom prst="roundRect">
            <a:avLst>
              <a:gd name="adj" fmla="val 907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sp>
      <p:sp>
        <p:nvSpPr>
          <p:cNvPr id="5" name="Text 2"/>
          <p:cNvSpPr/>
          <p:nvPr/>
        </p:nvSpPr>
        <p:spPr>
          <a:xfrm>
            <a:off x="872014" y="2544247"/>
            <a:ext cx="2584252" cy="323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Diverse &amp; Noisy Data</a:t>
            </a:r>
            <a:endParaRPr lang="en-US" sz="20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872014" y="2972514"/>
            <a:ext cx="3418523" cy="1476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300"/>
              </a:lnSpc>
              <a:buNone/>
            </a:pP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Large-scale AI models often ingest diverse and noisy data, each with its own unique dispersion characteristics, making consistent analysis </a:t>
            </a:r>
            <a:r>
              <a:rPr lang="en-US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difficult</a:t>
            </a:r>
            <a:r>
              <a:rPr lang="en-US" dirty="0" smtClean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.</a:t>
            </a: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8622033" y="2344363"/>
            <a:ext cx="3806071" cy="3206472"/>
          </a:xfrm>
          <a:prstGeom prst="roundRect">
            <a:avLst>
              <a:gd name="adj" fmla="val 907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sp>
      <p:sp>
        <p:nvSpPr>
          <p:cNvPr id="8" name="Text 5"/>
          <p:cNvSpPr/>
          <p:nvPr/>
        </p:nvSpPr>
        <p:spPr>
          <a:xfrm>
            <a:off x="8677513" y="2382738"/>
            <a:ext cx="3418642" cy="646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Outliers &amp; Skewed Distributions</a:t>
            </a:r>
            <a:endParaRPr lang="en-US" sz="20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8677513" y="3223101"/>
            <a:ext cx="3418642" cy="2067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300"/>
              </a:lnSpc>
              <a:buNone/>
            </a:pPr>
            <a:r>
              <a:rPr lang="en-US" sz="15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Unmanaged outliers and skewed distributions can mislead model training, resulting in degraded performance and inaccurate predictions. This can be particularly problematic in sensitive applications.</a:t>
            </a:r>
            <a:endParaRPr lang="en-US" sz="1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Shape 7"/>
          <p:cNvSpPr/>
          <p:nvPr/>
        </p:nvSpPr>
        <p:spPr>
          <a:xfrm>
            <a:off x="4680199" y="2350533"/>
            <a:ext cx="3805952" cy="3206471"/>
          </a:xfrm>
          <a:prstGeom prst="roundRect">
            <a:avLst>
              <a:gd name="adj" fmla="val 1708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sp>
      <p:sp>
        <p:nvSpPr>
          <p:cNvPr id="11" name="Text 8"/>
          <p:cNvSpPr/>
          <p:nvPr/>
        </p:nvSpPr>
        <p:spPr>
          <a:xfrm>
            <a:off x="4816081" y="2554443"/>
            <a:ext cx="2741057" cy="323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Real-world Variability</a:t>
            </a:r>
            <a:endParaRPr lang="en-US" sz="20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2" name="Text 9"/>
          <p:cNvSpPr/>
          <p:nvPr/>
        </p:nvSpPr>
        <p:spPr>
          <a:xfrm>
            <a:off x="4816081" y="3083062"/>
            <a:ext cx="2978091" cy="8861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300"/>
              </a:lnSpc>
              <a:buNone/>
            </a:pPr>
            <a:r>
              <a:rPr lang="en-US" sz="15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Consider energy consumption prediction: variability by neighborhood demands tailored models. A one-size-fits-all approach often fails when dispersion isn't accounted for.</a:t>
            </a:r>
            <a:endParaRPr lang="en-US" sz="1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260" y="1757601"/>
            <a:ext cx="13131879" cy="142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chemeClr val="accent1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Dispersion-Informed Data Preprocessing Techniques</a:t>
            </a:r>
            <a:endParaRPr lang="en-US" sz="4450" dirty="0">
              <a:solidFill>
                <a:schemeClr val="accent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749260" y="3612833"/>
            <a:ext cx="214074" cy="267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Brygada 1918 Light" pitchFamily="34" charset="0"/>
                <a:ea typeface="Brygada 1918 Light" pitchFamily="34" charset="-122"/>
                <a:cs typeface="Brygada 1918 Light" pitchFamily="34" charset="-120"/>
              </a:rPr>
              <a:t>01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749260" y="3946088"/>
            <a:ext cx="4234577" cy="30480"/>
          </a:xfrm>
          <a:prstGeom prst="rect">
            <a:avLst/>
          </a:prstGeom>
          <a:solidFill>
            <a:srgbClr val="FFB393"/>
          </a:solidFill>
          <a:ln/>
        </p:spPr>
      </p:sp>
      <p:sp>
        <p:nvSpPr>
          <p:cNvPr id="5" name="Text 3"/>
          <p:cNvSpPr/>
          <p:nvPr/>
        </p:nvSpPr>
        <p:spPr>
          <a:xfrm>
            <a:off x="749260" y="4114086"/>
            <a:ext cx="3933349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chemeClr val="accent1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Outlier Detection &amp; Removal</a:t>
            </a:r>
            <a:endParaRPr lang="en-US" sz="2200" dirty="0">
              <a:solidFill>
                <a:schemeClr val="accent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749260" y="4599265"/>
            <a:ext cx="4234577" cy="1712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Employ techniques like Interquartile Range (IQR) or Median Absolute Deviation (MAD) to identify and handle extreme values that can skew analysis and model training</a:t>
            </a: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197912" y="3612833"/>
            <a:ext cx="214074" cy="267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Brygada 1918 Light" pitchFamily="34" charset="0"/>
                <a:ea typeface="Brygada 1918 Light" pitchFamily="34" charset="-122"/>
                <a:cs typeface="Brygada 1918 Light" pitchFamily="34" charset="-120"/>
              </a:rPr>
              <a:t>02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5197912" y="3946088"/>
            <a:ext cx="4234577" cy="30480"/>
          </a:xfrm>
          <a:prstGeom prst="rect">
            <a:avLst/>
          </a:prstGeom>
          <a:solidFill>
            <a:srgbClr val="FFB393"/>
          </a:solidFill>
          <a:ln/>
        </p:spPr>
      </p:sp>
      <p:sp>
        <p:nvSpPr>
          <p:cNvPr id="9" name="Text 7"/>
          <p:cNvSpPr/>
          <p:nvPr/>
        </p:nvSpPr>
        <p:spPr>
          <a:xfrm>
            <a:off x="5197912" y="4114086"/>
            <a:ext cx="3356848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chemeClr val="accent1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Normalization &amp; Scaling</a:t>
            </a:r>
            <a:endParaRPr lang="en-US" sz="2200" dirty="0">
              <a:solidFill>
                <a:schemeClr val="accent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5197912" y="4599265"/>
            <a:ext cx="4234577" cy="1712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Apply normalization and scaling methods to reduce the impact of variance on model convergence, ensuring features contribute equally during training.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646563" y="3612833"/>
            <a:ext cx="214074" cy="267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Brygada 1918 Light" pitchFamily="34" charset="0"/>
                <a:ea typeface="Brygada 1918 Light" pitchFamily="34" charset="-122"/>
                <a:cs typeface="Brygada 1918 Light" pitchFamily="34" charset="-120"/>
              </a:rPr>
              <a:t>03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9646563" y="3946088"/>
            <a:ext cx="4234577" cy="30480"/>
          </a:xfrm>
          <a:prstGeom prst="rect">
            <a:avLst/>
          </a:prstGeom>
          <a:solidFill>
            <a:srgbClr val="FFB393"/>
          </a:solidFill>
          <a:ln/>
        </p:spPr>
      </p:sp>
      <p:sp>
        <p:nvSpPr>
          <p:cNvPr id="13" name="Text 11"/>
          <p:cNvSpPr/>
          <p:nvPr/>
        </p:nvSpPr>
        <p:spPr>
          <a:xfrm>
            <a:off x="9646563" y="4114086"/>
            <a:ext cx="2854643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chemeClr val="accent1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Stratified Sampling</a:t>
            </a:r>
            <a:endParaRPr lang="en-US" sz="2200" dirty="0">
              <a:solidFill>
                <a:schemeClr val="accent1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9646563" y="4599265"/>
            <a:ext cx="4234577" cy="1712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Use stratified sampling to ensure that training and testing splits maintain the representative dispersion of the original dataset, preventing sampling bias.</a:t>
            </a:r>
            <a:endParaRPr lang="en-US" sz="16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839454" y="738746"/>
            <a:ext cx="9041142" cy="2140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chemeClr val="accent1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Conclusion: Mastering Data Dispersion for AI Excellence</a:t>
            </a:r>
            <a:endParaRPr lang="en-US" sz="4450" dirty="0">
              <a:solidFill>
                <a:schemeClr val="accent1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1026696" y="2695072"/>
            <a:ext cx="10988842" cy="4876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250000"/>
              </a:lnSpc>
              <a:buSzPct val="100000"/>
              <a:buChar char="•"/>
            </a:pPr>
            <a:r>
              <a:rPr lang="en-US" sz="1650" b="1" dirty="0"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Foundational Concept:</a:t>
            </a:r>
            <a:r>
              <a:rPr lang="en-US" sz="1650" dirty="0"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Dispersion is a foundational concept that unlocks deeper data understanding, moving beyond simple averages.</a:t>
            </a:r>
            <a:endParaRPr lang="en-US" sz="1650" dirty="0"/>
          </a:p>
          <a:p>
            <a:pPr marL="342900" indent="-342900" algn="l">
              <a:lnSpc>
                <a:spcPct val="250000"/>
              </a:lnSpc>
              <a:buSzPct val="100000"/>
              <a:buChar char="•"/>
            </a:pPr>
            <a:r>
              <a:rPr lang="en-US" sz="1650" b="1" dirty="0"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Enhanced AI Models:</a:t>
            </a:r>
            <a:r>
              <a:rPr lang="en-US" sz="1650" dirty="0"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Applying dispersion techniques significantly enhances AI model quality, promoting fairness, and building trustworthiness.</a:t>
            </a:r>
            <a:endParaRPr lang="en-US" sz="1650" dirty="0"/>
          </a:p>
          <a:p>
            <a:pPr marL="342900" indent="-342900" algn="l">
              <a:lnSpc>
                <a:spcPct val="250000"/>
              </a:lnSpc>
              <a:buSzPct val="100000"/>
              <a:buChar char="•"/>
            </a:pPr>
            <a:r>
              <a:rPr lang="en-US" sz="1650" b="1" dirty="0"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Essential Workflow Step:</a:t>
            </a:r>
            <a:r>
              <a:rPr lang="en-US" sz="1650" dirty="0"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Embrace dispersion analysis as a key, indispensable step in your AI data science workflow to ensure robust and reliable outcomes.</a:t>
            </a:r>
            <a:endParaRPr lang="en-US" sz="16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Problem </a:t>
            </a:r>
            <a:r>
              <a:rPr lang="en-US" b="1" dirty="0" smtClean="0"/>
              <a:t>1 </a:t>
            </a:r>
            <a:r>
              <a:rPr lang="en-US" b="1" dirty="0"/>
              <a:t>(Sensor Data Consistency)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Two </a:t>
            </a:r>
            <a:r>
              <a:rPr lang="en-US" dirty="0"/>
              <a:t>sensors measure temperature (°C):</a:t>
            </a:r>
          </a:p>
          <a:p>
            <a:r>
              <a:rPr lang="en-US" dirty="0"/>
              <a:t>Sensor A:</a:t>
            </a:r>
            <a:br>
              <a:rPr lang="en-US" dirty="0"/>
            </a:br>
            <a:r>
              <a:rPr lang="en-US" dirty="0"/>
              <a:t>20, 21, 19, 22, 18, 20</a:t>
            </a:r>
          </a:p>
          <a:p>
            <a:r>
              <a:rPr lang="en-US" dirty="0"/>
              <a:t>Sensor B:</a:t>
            </a:r>
            <a:br>
              <a:rPr lang="en-US" dirty="0"/>
            </a:br>
            <a:r>
              <a:rPr lang="en-US" dirty="0"/>
              <a:t>20, 20, 21, 19, 20, 20</a:t>
            </a:r>
          </a:p>
          <a:p>
            <a:pPr marL="0" indent="0">
              <a:buNone/>
            </a:pPr>
            <a:r>
              <a:rPr lang="en-US" b="1" dirty="0"/>
              <a:t>Tasks</a:t>
            </a:r>
            <a:endParaRPr lang="en-US" dirty="0"/>
          </a:p>
          <a:p>
            <a:pPr marL="0" lvl="0" indent="0">
              <a:buNone/>
            </a:pPr>
            <a:r>
              <a:rPr lang="en-US" dirty="0" smtClean="0"/>
              <a:t>1. Calculate </a:t>
            </a:r>
            <a:r>
              <a:rPr lang="en-US" dirty="0"/>
              <a:t>mean temperature.</a:t>
            </a:r>
          </a:p>
          <a:p>
            <a:pPr marL="0" lvl="0" indent="0">
              <a:buNone/>
            </a:pPr>
            <a:r>
              <a:rPr lang="en-US" dirty="0" smtClean="0"/>
              <a:t>2.Calculate </a:t>
            </a:r>
            <a:r>
              <a:rPr lang="en-US" dirty="0"/>
              <a:t>variance and standard deviation.</a:t>
            </a:r>
          </a:p>
          <a:p>
            <a:pPr marL="0" lvl="0" indent="0">
              <a:buNone/>
            </a:pPr>
            <a:r>
              <a:rPr lang="en-US" dirty="0" smtClean="0"/>
              <a:t>3.Compute </a:t>
            </a:r>
            <a:r>
              <a:rPr lang="en-US" dirty="0"/>
              <a:t>coefficient of variation.</a:t>
            </a:r>
          </a:p>
          <a:p>
            <a:pPr marL="0" lvl="0" indent="0">
              <a:buNone/>
            </a:pPr>
            <a:r>
              <a:rPr lang="en-US" dirty="0" smtClean="0"/>
              <a:t>4.Identify </a:t>
            </a:r>
            <a:r>
              <a:rPr lang="en-US" dirty="0"/>
              <a:t>which sensor is </a:t>
            </a:r>
            <a:r>
              <a:rPr lang="en-US" b="1" dirty="0"/>
              <a:t>more reliable</a:t>
            </a:r>
            <a:r>
              <a:rPr lang="en-US" dirty="0"/>
              <a:t>/consistent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98170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768" y="882316"/>
            <a:ext cx="9737558" cy="6368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2583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Problem2: Model Accuracy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3628601"/>
              </p:ext>
            </p:extLst>
          </p:nvPr>
        </p:nvGraphicFramePr>
        <p:xfrm>
          <a:off x="2217057" y="4600811"/>
          <a:ext cx="5408386" cy="347929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04193">
                  <a:extLst>
                    <a:ext uri="{9D8B030D-6E8A-4147-A177-3AD203B41FA5}">
                      <a16:colId xmlns:a16="http://schemas.microsoft.com/office/drawing/2014/main" val="2886985940"/>
                    </a:ext>
                  </a:extLst>
                </a:gridCol>
                <a:gridCol w="2704193">
                  <a:extLst>
                    <a:ext uri="{9D8B030D-6E8A-4147-A177-3AD203B41FA5}">
                      <a16:colId xmlns:a16="http://schemas.microsoft.com/office/drawing/2014/main" val="3153877439"/>
                    </a:ext>
                  </a:extLst>
                </a:gridCol>
              </a:tblGrid>
              <a:tr h="3361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b="1" kern="0" dirty="0">
                          <a:effectLst/>
                        </a:rPr>
                        <a:t>Accuracy (%)</a:t>
                      </a:r>
                      <a:endParaRPr lang="en-US" sz="32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b="1" kern="0">
                          <a:effectLst/>
                        </a:rPr>
                        <a:t>Frequency</a:t>
                      </a:r>
                      <a:endParaRPr lang="en-US" sz="32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503473940"/>
                  </a:ext>
                </a:extLst>
              </a:tr>
              <a:tr h="3361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b="1" kern="0" dirty="0">
                          <a:effectLst/>
                        </a:rPr>
                        <a:t>60–65</a:t>
                      </a:r>
                      <a:endParaRPr lang="en-US" sz="32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b="1" kern="0">
                          <a:effectLst/>
                        </a:rPr>
                        <a:t>4</a:t>
                      </a:r>
                      <a:endParaRPr lang="en-US" sz="32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734811303"/>
                  </a:ext>
                </a:extLst>
              </a:tr>
              <a:tr h="3361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b="1" kern="0" dirty="0">
                          <a:effectLst/>
                        </a:rPr>
                        <a:t>65–70</a:t>
                      </a:r>
                      <a:endParaRPr lang="en-US" sz="32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b="1" kern="0">
                          <a:effectLst/>
                        </a:rPr>
                        <a:t>6</a:t>
                      </a:r>
                      <a:endParaRPr lang="en-US" sz="32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36415999"/>
                  </a:ext>
                </a:extLst>
              </a:tr>
              <a:tr h="3361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b="1" kern="0" dirty="0">
                          <a:effectLst/>
                        </a:rPr>
                        <a:t>70–75</a:t>
                      </a:r>
                      <a:endParaRPr lang="en-US" sz="32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b="1" kern="0" dirty="0">
                          <a:effectLst/>
                        </a:rPr>
                        <a:t>10</a:t>
                      </a:r>
                      <a:endParaRPr lang="en-US" sz="32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54796210"/>
                  </a:ext>
                </a:extLst>
              </a:tr>
              <a:tr h="3361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b="1" kern="0" dirty="0">
                          <a:effectLst/>
                        </a:rPr>
                        <a:t>75–80</a:t>
                      </a:r>
                      <a:endParaRPr lang="en-US" sz="32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b="1" kern="0">
                          <a:effectLst/>
                        </a:rPr>
                        <a:t>8</a:t>
                      </a:r>
                      <a:endParaRPr lang="en-US" sz="32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7539282"/>
                  </a:ext>
                </a:extLst>
              </a:tr>
              <a:tr h="3361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b="1" kern="0">
                          <a:effectLst/>
                        </a:rPr>
                        <a:t>80–85</a:t>
                      </a:r>
                      <a:endParaRPr lang="en-US" sz="32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b="1" kern="0" dirty="0">
                          <a:effectLst/>
                        </a:rPr>
                        <a:t>2</a:t>
                      </a:r>
                      <a:endParaRPr lang="en-US" sz="32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39611905"/>
                  </a:ext>
                </a:extLst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2456161" y="-3305401"/>
            <a:ext cx="8147958" cy="7956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2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2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2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2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2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2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2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2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2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2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2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2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2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2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2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Q3:The following table shows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training accuracy (%) of an AI model across different experiment runs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Tasks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Find the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mean accuracy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Calculate the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standard deviation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for the grouped data.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Compute the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coefficient of variation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3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24301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Problem4: Outlier Detection using the IQR 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following data represent the </a:t>
            </a:r>
            <a:r>
              <a:rPr lang="en-US" b="1" dirty="0"/>
              <a:t>number of hours students studied in a week</a:t>
            </a:r>
            <a:r>
              <a:rPr lang="en-US" dirty="0"/>
              <a:t>:</a:t>
            </a:r>
          </a:p>
          <a:p>
            <a:r>
              <a:rPr lang="en-US" b="1" dirty="0"/>
              <a:t>3, 5, 7, 8, 9, 10, 12, 13, 15, 18, 22</a:t>
            </a:r>
            <a:endParaRPr lang="en-US" dirty="0"/>
          </a:p>
          <a:p>
            <a:r>
              <a:rPr lang="en-US" dirty="0"/>
              <a:t>Calculate </a:t>
            </a:r>
            <a:r>
              <a:rPr lang="en-US" b="1" dirty="0"/>
              <a:t>Q₁ (first quartile)</a:t>
            </a:r>
            <a:r>
              <a:rPr lang="en-US" dirty="0"/>
              <a:t> and </a:t>
            </a:r>
            <a:r>
              <a:rPr lang="en-US" b="1" dirty="0"/>
              <a:t>Q₃ (third quartile)</a:t>
            </a:r>
            <a:r>
              <a:rPr lang="en-US" dirty="0"/>
              <a:t>.</a:t>
            </a:r>
          </a:p>
          <a:p>
            <a:r>
              <a:rPr lang="en-US" dirty="0"/>
              <a:t>Find the </a:t>
            </a:r>
            <a:r>
              <a:rPr lang="en-US" b="1" dirty="0"/>
              <a:t>Interquartile Range (IQR)</a:t>
            </a:r>
            <a:r>
              <a:rPr lang="en-US" dirty="0"/>
              <a:t>.</a:t>
            </a:r>
          </a:p>
          <a:p>
            <a:r>
              <a:rPr lang="en-US" dirty="0"/>
              <a:t>Determine the </a:t>
            </a:r>
            <a:r>
              <a:rPr lang="en-US" b="1" dirty="0"/>
              <a:t>lower fence</a:t>
            </a:r>
            <a:r>
              <a:rPr lang="en-US" dirty="0"/>
              <a:t> and </a:t>
            </a:r>
            <a:r>
              <a:rPr lang="en-US" b="1" dirty="0"/>
              <a:t>upper fence</a:t>
            </a:r>
            <a:r>
              <a:rPr lang="en-US" dirty="0"/>
              <a:t> using the IQR method.</a:t>
            </a:r>
          </a:p>
          <a:p>
            <a:r>
              <a:rPr lang="en-US" dirty="0"/>
              <a:t>Identify </a:t>
            </a:r>
            <a:r>
              <a:rPr lang="en-US" b="1" dirty="0"/>
              <a:t>any outliers</a:t>
            </a:r>
            <a:r>
              <a:rPr lang="en-US" dirty="0"/>
              <a:t> in the dataset.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11771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5: Outlier detection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following data represent </a:t>
            </a:r>
            <a:r>
              <a:rPr lang="en-US" b="1" dirty="0"/>
              <a:t>daily sales (in units) of a shop over several days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b="1" dirty="0"/>
              <a:t>4, 6, 7, 8, 9, 10, 11, 12, 13, 15, 18, 20, 35, 42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Tasks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1.Find </a:t>
            </a:r>
            <a:r>
              <a:rPr lang="en-US" b="1" dirty="0"/>
              <a:t>Q₁ (first quartile)</a:t>
            </a:r>
            <a:r>
              <a:rPr lang="en-US" dirty="0"/>
              <a:t> and </a:t>
            </a:r>
            <a:r>
              <a:rPr lang="en-US" b="1" dirty="0"/>
              <a:t>Q₃ (third quartile)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 smtClean="0"/>
              <a:t>2. Calculate </a:t>
            </a:r>
            <a:r>
              <a:rPr lang="en-US" dirty="0"/>
              <a:t>the </a:t>
            </a:r>
            <a:r>
              <a:rPr lang="en-US" b="1" dirty="0"/>
              <a:t>Interquartile Range (IQR)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 smtClean="0"/>
              <a:t>3. Determine </a:t>
            </a:r>
            <a:r>
              <a:rPr lang="en-US" dirty="0"/>
              <a:t>the </a:t>
            </a:r>
            <a:r>
              <a:rPr lang="en-US" b="1" dirty="0"/>
              <a:t>lower fence</a:t>
            </a:r>
            <a:r>
              <a:rPr lang="en-US" dirty="0"/>
              <a:t> and </a:t>
            </a:r>
            <a:r>
              <a:rPr lang="en-US" b="1" dirty="0"/>
              <a:t>upper fence</a:t>
            </a:r>
            <a:r>
              <a:rPr lang="en-US" dirty="0"/>
              <a:t> using the IQR rule.</a:t>
            </a:r>
          </a:p>
          <a:p>
            <a:pPr marL="0" indent="0">
              <a:buNone/>
            </a:pPr>
            <a:r>
              <a:rPr lang="en-US" dirty="0" smtClean="0"/>
              <a:t>4. Identify </a:t>
            </a:r>
            <a:r>
              <a:rPr lang="en-US" b="1" dirty="0"/>
              <a:t>all outliers</a:t>
            </a:r>
            <a:r>
              <a:rPr lang="en-US" dirty="0"/>
              <a:t> in the dataset.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645342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91</TotalTime>
  <Words>1058</Words>
  <Application>Microsoft Office PowerPoint</Application>
  <PresentationFormat>Custom</PresentationFormat>
  <Paragraphs>146</Paragraphs>
  <Slides>19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9" baseType="lpstr">
      <vt:lpstr>Wingdings 3</vt:lpstr>
      <vt:lpstr>Cambria Math</vt:lpstr>
      <vt:lpstr>Brygada 1918 Light</vt:lpstr>
      <vt:lpstr>Times New Roman</vt:lpstr>
      <vt:lpstr>Trebuchet MS</vt:lpstr>
      <vt:lpstr>Montserrat Medium</vt:lpstr>
      <vt:lpstr>Brygada 1918 Bold</vt:lpstr>
      <vt:lpstr>Arial</vt:lpstr>
      <vt:lpstr>Calibri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Problem 1 (Sensor Data Consistency) </vt:lpstr>
      <vt:lpstr>PowerPoint Presentation</vt:lpstr>
      <vt:lpstr>Problem2: Model Accuracy</vt:lpstr>
      <vt:lpstr>Problem4: Outlier Detection using the IQR method</vt:lpstr>
      <vt:lpstr>Problem 5: Outlier detection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Home PC</dc:creator>
  <cp:lastModifiedBy>Home PC</cp:lastModifiedBy>
  <cp:revision>13</cp:revision>
  <dcterms:created xsi:type="dcterms:W3CDTF">2026-02-16T07:39:23Z</dcterms:created>
  <dcterms:modified xsi:type="dcterms:W3CDTF">2026-03-12T14:44:42Z</dcterms:modified>
</cp:coreProperties>
</file>