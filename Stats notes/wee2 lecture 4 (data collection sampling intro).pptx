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56" r:id="rId2"/>
    <p:sldId id="305" r:id="rId3"/>
    <p:sldId id="309" r:id="rId4"/>
    <p:sldId id="363" r:id="rId5"/>
    <p:sldId id="365" r:id="rId6"/>
    <p:sldId id="338" r:id="rId7"/>
    <p:sldId id="364" r:id="rId8"/>
    <p:sldId id="357" r:id="rId9"/>
    <p:sldId id="358" r:id="rId10"/>
    <p:sldId id="350" r:id="rId11"/>
    <p:sldId id="342" r:id="rId12"/>
    <p:sldId id="366" r:id="rId13"/>
    <p:sldId id="367" r:id="rId14"/>
    <p:sldId id="360" r:id="rId15"/>
    <p:sldId id="361" r:id="rId16"/>
    <p:sldId id="359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11" autoAdjust="0"/>
    <p:restoredTop sz="94660"/>
  </p:normalViewPr>
  <p:slideViewPr>
    <p:cSldViewPr snapToGrid="0">
      <p:cViewPr>
        <p:scale>
          <a:sx n="50" d="100"/>
          <a:sy n="50" d="100"/>
        </p:scale>
        <p:origin x="1710" y="5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eez Mujahid" userId="b3add4a18acc278f" providerId="LiveId" clId="{88690659-3C38-4F30-A050-14ABECADE9C3}"/>
    <pc:docChg chg="modSld">
      <pc:chgData name="Moeez Mujahid" userId="b3add4a18acc278f" providerId="LiveId" clId="{88690659-3C38-4F30-A050-14ABECADE9C3}" dt="2020-04-15T03:50:31.492" v="2" actId="1076"/>
      <pc:docMkLst>
        <pc:docMk/>
      </pc:docMkLst>
      <pc:sldChg chg="modSp">
        <pc:chgData name="Moeez Mujahid" userId="b3add4a18acc278f" providerId="LiveId" clId="{88690659-3C38-4F30-A050-14ABECADE9C3}" dt="2020-04-15T03:50:31.492" v="2" actId="1076"/>
        <pc:sldMkLst>
          <pc:docMk/>
          <pc:sldMk cId="475039843" sldId="352"/>
        </pc:sldMkLst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6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8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9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1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2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8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9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20" creationId="{00000000-0000-0000-0000-000000000000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CSC374 Information Security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33F72-4345-43EB-9D50-22A28716DB6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BA8CB-EB9C-4201-8058-05B51BDD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719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CSC374 Information Security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3334B-387A-4760-B2D7-7C6A34A0B6C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26A4D-5053-4FDB-93C4-872D09897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178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AC83144-00E8-4752-BBBE-C0B06C19CAD5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Lahore Garrison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46B6-79BD-452A-96E0-AA0D20F6D42A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4862E-3CAB-4A63-A087-14C3E964BFC2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10FC-2FA2-4432-AE21-CAD95D581DDE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4B866-D5F1-42DC-A89A-F2EEAE7999BF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15F8-6404-4637-944B-EECB2B4AEDC5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236D-160B-47A1-A56A-892C175B68E2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E9719-2080-4674-844C-C64A8A413934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8296-DE0B-4896-86F9-917D57899506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97826A8-14F0-49E1-BD6E-B5F394B01B88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28BD5E0-7BF2-4A4C-835B-6E2996BECCF7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9970D0B-E49C-4B90-A272-A47C637DAED6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Lahore Garrison University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Applied Statistics for AI	</a:t>
            </a:r>
            <a:br>
              <a:rPr lang="en-US" sz="4800" dirty="0"/>
            </a:br>
            <a:r>
              <a:rPr lang="en-US" sz="4800" dirty="0"/>
              <a:t>                 (</a:t>
            </a:r>
            <a:r>
              <a:rPr lang="en-US" sz="4400" dirty="0"/>
              <a:t>CMAI </a:t>
            </a:r>
            <a:r>
              <a:rPr lang="en-US" sz="4400" dirty="0" smtClean="0"/>
              <a:t>6203 </a:t>
            </a:r>
            <a:r>
              <a:rPr lang="en-US" sz="4400" dirty="0"/>
              <a:t>)</a:t>
            </a:r>
            <a:r>
              <a:rPr lang="en-US" sz="4800" dirty="0"/>
              <a:t>				</a:t>
            </a:r>
            <a:br>
              <a:rPr lang="en-US" sz="4800" dirty="0"/>
            </a:br>
            <a:r>
              <a:rPr lang="en-US" sz="4800" dirty="0"/>
              <a:t>      </a:t>
            </a:r>
            <a:r>
              <a:rPr lang="en-US" sz="4000" dirty="0" smtClean="0"/>
              <a:t>Week-2         </a:t>
            </a:r>
            <a:r>
              <a:rPr lang="en-US" sz="4000" dirty="0" smtClean="0"/>
              <a:t>Lecture-4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sz="3200" dirty="0" smtClean="0"/>
          </a:p>
          <a:p>
            <a:r>
              <a:rPr lang="en-US" sz="3200" dirty="0" smtClean="0"/>
              <a:t>Topic : </a:t>
            </a:r>
            <a:r>
              <a:rPr lang="en-US" sz="3200" dirty="0" smtClean="0"/>
              <a:t>data Collection and Sampling Introduction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078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Student will able to learn about:</a:t>
            </a:r>
          </a:p>
          <a:p>
            <a:pPr algn="just"/>
            <a:r>
              <a:rPr lang="en-US" dirty="0"/>
              <a:t>Basic concept of Sampling.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Terminologies in Data collection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96030" y="2894150"/>
            <a:ext cx="11681321" cy="3077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the context of Artificial Intelligence and Machine Learning,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population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sample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are foundational concepts used to describe the datasets required to train and evaluate models. 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Population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represents the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entire possible set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of data points or entities that a model is intended to generalize to. For example, if you are building an AI to detect spam emails, the "population" is every email ever sent or that will be sent.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solidFill>
                  <a:srgbClr val="0A0A0A"/>
                </a:solidFill>
                <a:latin typeface="Google Sans"/>
              </a:rPr>
              <a:t>Sample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: This is a </a:t>
            </a:r>
            <a:r>
              <a:rPr lang="en-US" b="1" dirty="0">
                <a:solidFill>
                  <a:srgbClr val="0A0A0A"/>
                </a:solidFill>
                <a:latin typeface="Google Sans"/>
              </a:rPr>
              <a:t>specific subset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of that population used for the actual training and testing of the AI model. Because it is impossible to train on every single data point in existence, researchers use high-quality samples to estimate the characteristics of the whole population.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2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1110" y="2418824"/>
            <a:ext cx="10994786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the field of Artificial Intelligence,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sampling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refers to the strategic selection of a subset of data from a larger population. This process is essential for making massive datasets manageable, reducing computational costs, and ensuring that models generalize effectively to real-world scenarios. 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Sampling techniques in AI are generally divided into two main categories: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Probability Sampling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Non-Probability Sampling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21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 of Sampling</a:t>
            </a:r>
            <a:r>
              <a:rPr lang="en-US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/>
              <a:t>Aims </a:t>
            </a:r>
            <a:r>
              <a:rPr lang="en-US" b="1" dirty="0"/>
              <a:t>of sampling :</a:t>
            </a:r>
          </a:p>
          <a:p>
            <a:r>
              <a:rPr lang="en-US" dirty="0"/>
              <a:t>Reduces cost of research (e.g. political polls)</a:t>
            </a:r>
          </a:p>
          <a:p>
            <a:r>
              <a:rPr lang="en-US" dirty="0"/>
              <a:t>Generalize about a larger population</a:t>
            </a:r>
          </a:p>
          <a:p>
            <a:r>
              <a:rPr lang="en-US" dirty="0"/>
              <a:t>In some cases (e.g. industrial production) analysis may be destructive, so sampling is needed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Specific Uses in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745125" cy="3416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Genetic Algorithms</a:t>
            </a:r>
            <a:r>
              <a:rPr lang="en-US" dirty="0"/>
              <a:t>: A "population" refers to a set of candidate solutions (chromosomes) in a specific generation, while "sampling" involves selecting individuals for reproduction.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Training &amp; Test Sets</a:t>
            </a:r>
            <a:r>
              <a:rPr lang="en-US" dirty="0"/>
              <a:t>: The data you feed into a model is a sample. If this sample is not an adequate representation of the population, the AI may suffer from </a:t>
            </a:r>
            <a:r>
              <a:rPr lang="en-US" b="1" dirty="0"/>
              <a:t>sampling bias</a:t>
            </a:r>
            <a:r>
              <a:rPr lang="en-US" dirty="0"/>
              <a:t>, leading to poor performance on real-world data (</a:t>
            </a:r>
            <a:r>
              <a:rPr lang="en-US" dirty="0" err="1"/>
              <a:t>overfitting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Synthetic Data</a:t>
            </a:r>
            <a:r>
              <a:rPr lang="en-US" dirty="0"/>
              <a:t>: Advanced AI can learn the underlying distribution of a sample to generate "synthetic population data," which mimics the original dataset's properties at a much larger scale. 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2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Data Sampling Matters in AI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models rely on quality data to learn patterns and make decisions.</a:t>
            </a:r>
          </a:p>
          <a:p>
            <a:r>
              <a:rPr lang="en-US" dirty="0"/>
              <a:t>Collecting and processing all data is often impossible due to scale and cost.</a:t>
            </a:r>
          </a:p>
          <a:p>
            <a:r>
              <a:rPr lang="en-US" dirty="0"/>
              <a:t>Sampling selects a smaller, representative subset to train efficient, accurate models.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3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Challenge: Representativeness &amp; Bias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Poor sampling leads to biased models that fail in real-world scenarios.</a:t>
            </a:r>
          </a:p>
          <a:p>
            <a:r>
              <a:rPr lang="en-US" dirty="0"/>
              <a:t>Example: Fraud detection models biased by majority class data miss rare fraud cases.</a:t>
            </a:r>
          </a:p>
          <a:p>
            <a:r>
              <a:rPr lang="en-US" dirty="0"/>
              <a:t>Goal: Ensure samples reflect the diversity and complexity of the full dataset.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2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sampling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10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700" y="2062382"/>
            <a:ext cx="9626600" cy="4338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Sampling(brief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Explaination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1110" y="2423846"/>
            <a:ext cx="11346847" cy="372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Probability Sampling (Random Selection)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Probability sampling methods involve random selection, ensuring each data point has a known, non-zero chance of being chosen, which helps minimize bias. 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Simple Random Sampling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Each data point has an equal chance of selection. While simple, it might miss rare data in imbalanced datasets.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Stratified Sampling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The population is divided into subgroups (strata), and samples are drawn from each to ensure proportional representation, useful for capturing rare events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389346" cy="3416300"/>
          </a:xfrm>
        </p:spPr>
        <p:txBody>
          <a:bodyPr/>
          <a:lstStyle/>
          <a:p>
            <a:r>
              <a:rPr lang="en-US" b="1" dirty="0"/>
              <a:t>Systematic Sampling</a:t>
            </a:r>
            <a:r>
              <a:rPr lang="en-US" dirty="0"/>
              <a:t>: Data is selected at fixed intervals from an ordered list. It's efficient but can be biased by hidden patterns.</a:t>
            </a:r>
          </a:p>
          <a:p>
            <a:r>
              <a:rPr lang="en-US" b="1" dirty="0"/>
              <a:t>Cluster Sampling</a:t>
            </a:r>
            <a:r>
              <a:rPr lang="en-US" dirty="0"/>
              <a:t>: The population is divided into clusters, and entire clusters are randomly selected.</a:t>
            </a:r>
          </a:p>
          <a:p>
            <a:r>
              <a:rPr lang="en-US" b="1" dirty="0"/>
              <a:t>Multistage Sampling</a:t>
            </a:r>
            <a:r>
              <a:rPr lang="en-US" dirty="0"/>
              <a:t>: A variation of cluster sampling involving further division of groups before the final sample is taken.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8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 Non-Probability Sampling (Subjective Selection)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1110" y="2361476"/>
            <a:ext cx="11437096" cy="36009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These methods are based on judgment or convenience rather than random selection, making them more prone to bias but often faster. 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Convenience Sampling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Using readily available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Purposive (Judgmental) Sampling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Selecting data based on specific criteria or expert knowledge.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Quota Sampling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Selecting data to meet predetermined proportions for different categories.</a:t>
            </a:r>
          </a:p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 dirty="0"/>
              <a:t>Snowball Sampling</a:t>
            </a:r>
            <a:r>
              <a:rPr lang="en-US" dirty="0"/>
              <a:t>: Participants recruit others from their network, useful for hard-to-reach populations.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84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Impact: Sampling Boosts AI Performance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035785" cy="34163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Proper sampling reduces computational costs drastically.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Enhances model generalization and robustness on unseen data.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Enables AI applications in healthcare, finance, and autonomous systems.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2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 Sampling is the Foundation of Effective AI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236946" cy="341630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000" dirty="0"/>
              <a:t>Thoughtful data sampling transforms raw data into AI-ready insights.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Combining classical and AI-driven sampling techniques unlocks model potential.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Mastering sampling is key to building fair, efficient, and powerful AI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1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Advanced Techniques: Oversampling &amp; </a:t>
            </a:r>
            <a:r>
              <a:rPr lang="en-US" b="1" dirty="0" smtClean="0"/>
              <a:t>Under sampling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Oversampling duplicates minority class data to balance datasets.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Undersampling</a:t>
            </a:r>
            <a:r>
              <a:rPr lang="en-US" dirty="0"/>
              <a:t> reduces majority class data to prevent bias.</a:t>
            </a:r>
          </a:p>
          <a:p>
            <a:pPr>
              <a:lnSpc>
                <a:spcPct val="200000"/>
              </a:lnSpc>
            </a:pPr>
            <a:r>
              <a:rPr lang="en-US" dirty="0"/>
              <a:t>Hybrid methods combine both for imbalanced AI tasks like anomaly detection.</a:t>
            </a:r>
          </a:p>
          <a:p>
            <a:pPr>
              <a:lnSpc>
                <a:spcPct val="200000"/>
              </a:lnSpc>
            </a:pPr>
            <a:r>
              <a:rPr lang="en-US" dirty="0"/>
              <a:t>Example: SMOTE algorithm generates synthetic minority samples.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3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Probability and Statistics for Engineers and Scientists by Ronald E. Walpole, Raymond H. Myers, Sharon L. Myers and Keying E. Ye, Pearson; 9th Edition (January 6, 2011). ISBN-10: 0321629116 2</a:t>
            </a:r>
          </a:p>
          <a:p>
            <a:r>
              <a:rPr lang="en-US" b="1" dirty="0"/>
              <a:t>Walpole, P.E., Myers R.H., Myers S.L. (1998), “</a:t>
            </a:r>
            <a:r>
              <a:rPr lang="en-US" b="1" i="1" dirty="0"/>
              <a:t>Probability and Statistics for Engineers and Scientists”, 7th Ed. Prentice Hall.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319</TotalTime>
  <Words>643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Google Sans</vt:lpstr>
      <vt:lpstr>Times New Roman</vt:lpstr>
      <vt:lpstr>Wingdings 3</vt:lpstr>
      <vt:lpstr>Ion Boardroom</vt:lpstr>
      <vt:lpstr>Applied Statistics for AI                   (CMAI 6203 )           Week-2         Lecture-4</vt:lpstr>
      <vt:lpstr>Learning Outcomes</vt:lpstr>
      <vt:lpstr>Basic Terminologies in Data collection</vt:lpstr>
      <vt:lpstr>PowerPoint Presentation</vt:lpstr>
      <vt:lpstr>Sampling</vt:lpstr>
      <vt:lpstr>Aim of Sampling: </vt:lpstr>
      <vt:lpstr>Specific Uses in AI</vt:lpstr>
      <vt:lpstr>Why Data Sampling Matters in AI </vt:lpstr>
      <vt:lpstr>The Challenge: Representativeness &amp; Bias </vt:lpstr>
      <vt:lpstr>Types of sampling</vt:lpstr>
      <vt:lpstr>Types of Sampling(brief Explaination)</vt:lpstr>
      <vt:lpstr>PowerPoint Presentation</vt:lpstr>
      <vt:lpstr> Non-Probability Sampling (Subjective Selection)</vt:lpstr>
      <vt:lpstr>Real-World Impact: Sampling Boosts AI Performance </vt:lpstr>
      <vt:lpstr>Conclusion: Sampling is the Foundation of Effective AI </vt:lpstr>
      <vt:lpstr>Advanced Techniques: Oversampling &amp; Under sampling </vt:lpstr>
      <vt:lpstr>References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Zulkifl Hasan</dc:creator>
  <cp:lastModifiedBy>Home PC</cp:lastModifiedBy>
  <cp:revision>240</cp:revision>
  <cp:lastPrinted>2018-09-19T06:34:00Z</cp:lastPrinted>
  <dcterms:created xsi:type="dcterms:W3CDTF">2017-09-15T05:33:00Z</dcterms:created>
  <dcterms:modified xsi:type="dcterms:W3CDTF">2026-02-17T06:37:02Z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1033-10.2.0.7635</vt:lpwstr>
  </property>
</Properties>
</file>