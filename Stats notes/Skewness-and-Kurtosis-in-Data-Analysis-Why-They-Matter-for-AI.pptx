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87" r:id="rId1"/>
  </p:sldMasterIdLst>
  <p:notesMasterIdLst>
    <p:notesMasterId r:id="rId27"/>
  </p:notesMasterIdLst>
  <p:sldIdLst>
    <p:sldId id="266" r:id="rId2"/>
    <p:sldId id="257" r:id="rId3"/>
    <p:sldId id="256" r:id="rId4"/>
    <p:sldId id="267" r:id="rId5"/>
    <p:sldId id="268" r:id="rId6"/>
    <p:sldId id="269" r:id="rId7"/>
    <p:sldId id="275" r:id="rId8"/>
    <p:sldId id="270" r:id="rId9"/>
    <p:sldId id="271" r:id="rId10"/>
    <p:sldId id="272" r:id="rId11"/>
    <p:sldId id="273" r:id="rId12"/>
    <p:sldId id="274" r:id="rId13"/>
    <p:sldId id="276" r:id="rId14"/>
    <p:sldId id="282" r:id="rId15"/>
    <p:sldId id="277" r:id="rId16"/>
    <p:sldId id="278" r:id="rId17"/>
    <p:sldId id="279" r:id="rId18"/>
    <p:sldId id="283" r:id="rId19"/>
    <p:sldId id="284" r:id="rId20"/>
    <p:sldId id="285" r:id="rId21"/>
    <p:sldId id="280" r:id="rId22"/>
    <p:sldId id="281" r:id="rId23"/>
    <p:sldId id="260" r:id="rId24"/>
    <p:sldId id="263" r:id="rId25"/>
    <p:sldId id="265" r:id="rId26"/>
  </p:sldIdLst>
  <p:sldSz cx="14630400" cy="8229600"/>
  <p:notesSz cx="8229600" cy="14630400"/>
  <p:embeddedFontLst>
    <p:embeddedFont>
      <p:font typeface="Century Gothic" panose="020B0502020202020204" pitchFamily="34" charset="0"/>
      <p:regular r:id="rId28"/>
      <p:bold r:id="rId29"/>
      <p:italic r:id="rId30"/>
      <p:boldItalic r:id="rId31"/>
    </p:embeddedFont>
    <p:embeddedFont>
      <p:font typeface="Calibri" panose="020F0502020204030204" pitchFamily="34" charset="0"/>
      <p:regular r:id="rId32"/>
      <p:bold r:id="rId33"/>
      <p:italic r:id="rId34"/>
      <p:boldItalic r:id="rId35"/>
    </p:embeddedFont>
    <p:embeddedFont>
      <p:font typeface="Montserrat Medium" panose="020B0604020202020204" charset="0"/>
      <p:regular r:id="rId36"/>
    </p:embeddedFont>
    <p:embeddedFont>
      <p:font typeface="Wingdings 3" panose="05040102010807070707" pitchFamily="18" charset="2"/>
      <p:regular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9" d="100"/>
          <a:sy n="59" d="100"/>
        </p:scale>
        <p:origin x="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44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4630400" cy="82296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385946" y="2519679"/>
            <a:ext cx="10590790" cy="3213178"/>
          </a:xfrm>
        </p:spPr>
        <p:txBody>
          <a:bodyPr anchor="b"/>
          <a:lstStyle>
            <a:lvl1pPr>
              <a:defRPr sz="6480"/>
            </a:lvl1pPr>
          </a:lstStyle>
          <a:p>
            <a:r>
              <a:rPr lang="en-US" smtClean="0"/>
              <a:t>Click to edit Master title style</a:t>
            </a:r>
            <a:endParaRPr lang="en-US" dirty="0"/>
          </a:p>
        </p:txBody>
      </p:sp>
      <p:sp>
        <p:nvSpPr>
          <p:cNvPr id="3" name="Subtitle 2"/>
          <p:cNvSpPr>
            <a:spLocks noGrp="1"/>
          </p:cNvSpPr>
          <p:nvPr>
            <p:ph type="subTitle" idx="1"/>
          </p:nvPr>
        </p:nvSpPr>
        <p:spPr bwMode="gray">
          <a:xfrm>
            <a:off x="1385946" y="5732856"/>
            <a:ext cx="10590790" cy="1033704"/>
          </a:xfrm>
        </p:spPr>
        <p:txBody>
          <a:bodyPr anchor="t"/>
          <a:lstStyle>
            <a:lvl1pPr marL="0" indent="0" algn="l">
              <a:buNone/>
              <a:defRPr cap="all">
                <a:solidFill>
                  <a:schemeClr val="accent1">
                    <a:lumMod val="60000"/>
                    <a:lumOff val="4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2190781" y="2150669"/>
            <a:ext cx="1188719" cy="365759"/>
          </a:xfrm>
        </p:spPr>
        <p:txBody>
          <a:bodyPr anchor="t"/>
          <a:lstStyle>
            <a:lvl1pPr algn="l">
              <a:defRPr b="0" i="0">
                <a:solidFill>
                  <a:schemeClr val="bg1">
                    <a:alpha val="60000"/>
                  </a:schemeClr>
                </a:solidFill>
              </a:defRPr>
            </a:lvl1pPr>
          </a:lstStyle>
          <a:p>
            <a:fld id="{B61BEF0D-F0BB-DE4B-95CE-6DB70DBA9567}" type="datetimeFigureOut">
              <a:rPr lang="en-US" smtClean="0"/>
              <a:pPr/>
              <a:t>3/16/2026</a:t>
            </a:fld>
            <a:endParaRPr lang="en-US" dirty="0"/>
          </a:p>
        </p:txBody>
      </p:sp>
      <p:sp>
        <p:nvSpPr>
          <p:cNvPr id="5" name="Footer Placeholder 4"/>
          <p:cNvSpPr>
            <a:spLocks noGrp="1"/>
          </p:cNvSpPr>
          <p:nvPr>
            <p:ph type="ftr" sz="quarter" idx="11"/>
          </p:nvPr>
        </p:nvSpPr>
        <p:spPr bwMode="gray">
          <a:xfrm rot="5400000">
            <a:off x="10742372" y="3873399"/>
            <a:ext cx="4631754" cy="36576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2423049" y="354876"/>
            <a:ext cx="1005839" cy="921224"/>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565461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385945" y="3124200"/>
            <a:ext cx="10590791" cy="40995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392580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4630400" cy="82296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5" y="3213174"/>
            <a:ext cx="5221230" cy="2740589"/>
          </a:xfrm>
        </p:spPr>
        <p:txBody>
          <a:bodyPr anchor="ct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274671" y="3213173"/>
            <a:ext cx="4509054" cy="2740589"/>
          </a:xfrm>
        </p:spPr>
        <p:txBody>
          <a:bodyPr anchor="ctr"/>
          <a:lstStyle>
            <a:lvl1pPr marL="0" indent="0" algn="l">
              <a:buNone/>
              <a:defRPr sz="2400" cap="all">
                <a:solidFill>
                  <a:schemeClr val="accent1">
                    <a:lumMod val="60000"/>
                    <a:lumOff val="4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5729693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385945" y="3124201"/>
            <a:ext cx="5790190" cy="409956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450455" y="3124200"/>
            <a:ext cx="5790191" cy="40995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5517238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385946" y="3124200"/>
            <a:ext cx="5790188"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Edit Master text styles</a:t>
            </a:r>
          </a:p>
        </p:txBody>
      </p:sp>
      <p:sp>
        <p:nvSpPr>
          <p:cNvPr id="4" name="Content Placeholder 3"/>
          <p:cNvSpPr>
            <a:spLocks noGrp="1"/>
          </p:cNvSpPr>
          <p:nvPr>
            <p:ph sz="half" idx="2"/>
          </p:nvPr>
        </p:nvSpPr>
        <p:spPr>
          <a:xfrm>
            <a:off x="1385945" y="3815715"/>
            <a:ext cx="5790190" cy="3408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450455" y="3124200"/>
            <a:ext cx="5790191"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Edit Master text styles</a:t>
            </a:r>
          </a:p>
        </p:txBody>
      </p:sp>
      <p:sp>
        <p:nvSpPr>
          <p:cNvPr id="6" name="Content Placeholder 5"/>
          <p:cNvSpPr>
            <a:spLocks noGrp="1"/>
          </p:cNvSpPr>
          <p:nvPr>
            <p:ph sz="quarter" idx="4"/>
          </p:nvPr>
        </p:nvSpPr>
        <p:spPr>
          <a:xfrm>
            <a:off x="7450455" y="3815715"/>
            <a:ext cx="5790191" cy="3408047"/>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3805796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385945" y="1168402"/>
            <a:ext cx="10513696" cy="848357"/>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644342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070735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6" y="1554480"/>
            <a:ext cx="3351790" cy="1920240"/>
          </a:xfrm>
        </p:spPr>
        <p:txBody>
          <a:bodyPr anchor="b"/>
          <a:lstStyle>
            <a:lvl1pPr algn="l">
              <a:defRPr sz="2880" b="0"/>
            </a:lvl1pPr>
          </a:lstStyle>
          <a:p>
            <a:r>
              <a:rPr lang="en-US" smtClean="0"/>
              <a:t>Click to edit Master title style</a:t>
            </a:r>
            <a:endParaRPr lang="en-US" dirty="0"/>
          </a:p>
        </p:txBody>
      </p:sp>
      <p:sp>
        <p:nvSpPr>
          <p:cNvPr id="3" name="Content Placeholder 2"/>
          <p:cNvSpPr>
            <a:spLocks noGrp="1"/>
          </p:cNvSpPr>
          <p:nvPr>
            <p:ph idx="1"/>
          </p:nvPr>
        </p:nvSpPr>
        <p:spPr>
          <a:xfrm>
            <a:off x="6937375" y="1737360"/>
            <a:ext cx="6228079" cy="54864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385945" y="3755137"/>
            <a:ext cx="3351790" cy="3474719"/>
          </a:xfrm>
        </p:spPr>
        <p:txBody>
          <a:bodyPr/>
          <a:lstStyle>
            <a:lvl1pPr marL="0" indent="0">
              <a:buNone/>
              <a:defRPr sz="1680">
                <a:solidFill>
                  <a:schemeClr val="accent1">
                    <a:lumMod val="60000"/>
                    <a:lumOff val="40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74734834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6" y="2032000"/>
            <a:ext cx="4638161" cy="2082800"/>
          </a:xfrm>
        </p:spPr>
        <p:txBody>
          <a:bodyPr anchor="b">
            <a:normAutofit/>
          </a:bodyPr>
          <a:lstStyle>
            <a:lvl1pPr algn="l">
              <a:defRPr sz="432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57444" y="1371600"/>
            <a:ext cx="3872632" cy="548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385945" y="4389120"/>
            <a:ext cx="4631054" cy="1645920"/>
          </a:xfrm>
        </p:spPr>
        <p:txBody>
          <a:bodyPr>
            <a:normAutofit/>
          </a:bodyPr>
          <a:lstStyle>
            <a:lvl1pPr marL="0" indent="0">
              <a:buNone/>
              <a:defRPr sz="1680">
                <a:solidFill>
                  <a:schemeClr val="accent1">
                    <a:lumMod val="60000"/>
                    <a:lumOff val="40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7151406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5" y="5963912"/>
            <a:ext cx="10590791" cy="680086"/>
          </a:xfrm>
        </p:spPr>
        <p:txBody>
          <a:bodyPr anchor="b">
            <a:normAutofit/>
          </a:bodyPr>
          <a:lstStyle>
            <a:lvl1pPr algn="l">
              <a:defRPr sz="288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85945" y="822960"/>
            <a:ext cx="10590791" cy="4114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smtClean="0"/>
              <a:t>Click icon to add picture</a:t>
            </a:r>
            <a:endParaRPr lang="en-US" dirty="0"/>
          </a:p>
        </p:txBody>
      </p:sp>
      <p:sp>
        <p:nvSpPr>
          <p:cNvPr id="4" name="Text Placeholder 3"/>
          <p:cNvSpPr>
            <a:spLocks noGrp="1"/>
          </p:cNvSpPr>
          <p:nvPr>
            <p:ph type="body" sz="half" idx="2"/>
          </p:nvPr>
        </p:nvSpPr>
        <p:spPr>
          <a:xfrm>
            <a:off x="1385945" y="6643998"/>
            <a:ext cx="10590790" cy="592454"/>
          </a:xfrm>
        </p:spPr>
        <p:txBody>
          <a:bodyPr>
            <a:normAutofit/>
          </a:bodyPr>
          <a:lstStyle>
            <a:lvl1pPr marL="0" indent="0">
              <a:buNone/>
              <a:defRPr sz="1440">
                <a:solidFill>
                  <a:schemeClr val="accent1">
                    <a:lumMod val="60000"/>
                    <a:lumOff val="40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8255029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4630400" cy="82296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78558" y="1276101"/>
            <a:ext cx="10598179" cy="1647583"/>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385945" y="4251960"/>
            <a:ext cx="10590791" cy="2971800"/>
          </a:xfrm>
        </p:spPr>
        <p:txBody>
          <a:bodyPr anchor="ctr">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4075823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4630400" cy="82296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1057879" y="728803"/>
            <a:ext cx="962294" cy="1865126"/>
          </a:xfrm>
          <a:prstGeom prst="rect">
            <a:avLst/>
          </a:prstGeom>
          <a:noFill/>
        </p:spPr>
        <p:txBody>
          <a:bodyPr wrap="square" rtlCol="0">
            <a:spAutoFit/>
          </a:bodyPr>
          <a:lstStyle/>
          <a:p>
            <a:pPr algn="r"/>
            <a:r>
              <a:rPr lang="en-US" sz="11520" b="0" i="0" dirty="0">
                <a:solidFill>
                  <a:schemeClr val="accent1">
                    <a:lumMod val="60000"/>
                    <a:lumOff val="40000"/>
                  </a:schemeClr>
                </a:solidFill>
                <a:latin typeface="Arial"/>
                <a:cs typeface="Arial"/>
              </a:rPr>
              <a:t>“</a:t>
            </a:r>
          </a:p>
        </p:txBody>
      </p:sp>
      <p:sp>
        <p:nvSpPr>
          <p:cNvPr id="13" name="TextBox 12"/>
          <p:cNvSpPr txBox="1"/>
          <p:nvPr/>
        </p:nvSpPr>
        <p:spPr bwMode="gray">
          <a:xfrm>
            <a:off x="11861350" y="3136545"/>
            <a:ext cx="783316" cy="1865126"/>
          </a:xfrm>
          <a:prstGeom prst="rect">
            <a:avLst/>
          </a:prstGeom>
          <a:noFill/>
        </p:spPr>
        <p:txBody>
          <a:bodyPr wrap="square" rtlCol="0">
            <a:spAutoFit/>
          </a:bodyPr>
          <a:lstStyle/>
          <a:p>
            <a:pPr algn="r"/>
            <a:r>
              <a:rPr lang="en-US" sz="1152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898254" y="1178561"/>
            <a:ext cx="10144687" cy="3235958"/>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2335135" y="4414519"/>
            <a:ext cx="9277463" cy="410609"/>
          </a:xfrm>
        </p:spPr>
        <p:txBody>
          <a:bodyPr anchor="t">
            <a:normAutofit/>
          </a:bodyPr>
          <a:lstStyle>
            <a:lvl1pPr marL="0" indent="0">
              <a:buNone/>
              <a:defRPr lang="en-US" sz="1680" b="0" i="0" kern="1200" cap="small" dirty="0">
                <a:solidFill>
                  <a:schemeClr val="accent1">
                    <a:lumMod val="60000"/>
                    <a:lumOff val="40000"/>
                  </a:schemeClr>
                </a:solidFill>
                <a:latin typeface="+mn-lt"/>
                <a:ea typeface="+mn-ea"/>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smtClean="0"/>
              <a:t>Edit Master text styles</a:t>
            </a:r>
          </a:p>
        </p:txBody>
      </p:sp>
      <p:sp>
        <p:nvSpPr>
          <p:cNvPr id="10" name="Text Placeholder 3"/>
          <p:cNvSpPr>
            <a:spLocks noGrp="1"/>
          </p:cNvSpPr>
          <p:nvPr>
            <p:ph type="body" sz="half" idx="2"/>
          </p:nvPr>
        </p:nvSpPr>
        <p:spPr>
          <a:xfrm>
            <a:off x="1385946" y="6035040"/>
            <a:ext cx="11093876" cy="1197428"/>
          </a:xfrm>
        </p:spPr>
        <p:txBody>
          <a:bodyPr anchor="ctr">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3949794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5" y="2844800"/>
            <a:ext cx="10590792" cy="2187017"/>
          </a:xfrm>
        </p:spPr>
        <p:txBody>
          <a:bodyPr anchor="b"/>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85945" y="6029960"/>
            <a:ext cx="10590791" cy="1032480"/>
          </a:xfrm>
        </p:spPr>
        <p:txBody>
          <a:bodyPr anchor="t"/>
          <a:lstStyle>
            <a:lvl1pPr marL="0" indent="0" algn="l">
              <a:buNone/>
              <a:defRPr sz="2400" cap="none">
                <a:solidFill>
                  <a:schemeClr val="accent1">
                    <a:lumMod val="60000"/>
                    <a:lumOff val="4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2640824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385945" y="1168402"/>
            <a:ext cx="10590791" cy="848357"/>
          </a:xfrm>
        </p:spPr>
        <p:txBody>
          <a:bodyPr/>
          <a:lstStyle>
            <a:lvl1pPr>
              <a:defRPr sz="4320"/>
            </a:lvl1pPr>
          </a:lstStyle>
          <a:p>
            <a:r>
              <a:rPr lang="en-US" smtClean="0"/>
              <a:t>Click to edit Master title style</a:t>
            </a:r>
            <a:endParaRPr lang="en-US" dirty="0"/>
          </a:p>
        </p:txBody>
      </p:sp>
      <p:sp>
        <p:nvSpPr>
          <p:cNvPr id="3" name="Text Placeholder 2"/>
          <p:cNvSpPr>
            <a:spLocks noGrp="1"/>
          </p:cNvSpPr>
          <p:nvPr>
            <p:ph type="body" idx="1"/>
          </p:nvPr>
        </p:nvSpPr>
        <p:spPr>
          <a:xfrm>
            <a:off x="1385945" y="3124203"/>
            <a:ext cx="3770254"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Edit Master text styles</a:t>
            </a:r>
          </a:p>
        </p:txBody>
      </p:sp>
      <p:sp>
        <p:nvSpPr>
          <p:cNvPr id="16" name="Text Placeholder 3"/>
          <p:cNvSpPr>
            <a:spLocks noGrp="1"/>
          </p:cNvSpPr>
          <p:nvPr>
            <p:ph type="body" sz="half" idx="15"/>
          </p:nvPr>
        </p:nvSpPr>
        <p:spPr>
          <a:xfrm>
            <a:off x="1385944" y="3815717"/>
            <a:ext cx="3770255" cy="341675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smtClean="0"/>
              <a:t>Edit Master text styles</a:t>
            </a:r>
          </a:p>
        </p:txBody>
      </p:sp>
      <p:sp>
        <p:nvSpPr>
          <p:cNvPr id="5" name="Text Placeholder 4"/>
          <p:cNvSpPr>
            <a:spLocks noGrp="1"/>
          </p:cNvSpPr>
          <p:nvPr>
            <p:ph type="body" sz="quarter" idx="3"/>
          </p:nvPr>
        </p:nvSpPr>
        <p:spPr>
          <a:xfrm>
            <a:off x="5415266" y="3124200"/>
            <a:ext cx="3776411"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Edit Master text styles</a:t>
            </a:r>
          </a:p>
        </p:txBody>
      </p:sp>
      <p:sp>
        <p:nvSpPr>
          <p:cNvPr id="19" name="Text Placeholder 3"/>
          <p:cNvSpPr>
            <a:spLocks noGrp="1"/>
          </p:cNvSpPr>
          <p:nvPr>
            <p:ph type="body" sz="half" idx="16"/>
          </p:nvPr>
        </p:nvSpPr>
        <p:spPr>
          <a:xfrm>
            <a:off x="5415266" y="3815716"/>
            <a:ext cx="3776411" cy="341675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smtClean="0"/>
              <a:t>Edit Master text styles</a:t>
            </a:r>
          </a:p>
        </p:txBody>
      </p:sp>
      <p:sp>
        <p:nvSpPr>
          <p:cNvPr id="14" name="Text Placeholder 4"/>
          <p:cNvSpPr>
            <a:spLocks noGrp="1"/>
          </p:cNvSpPr>
          <p:nvPr>
            <p:ph type="body" sz="quarter" idx="13"/>
          </p:nvPr>
        </p:nvSpPr>
        <p:spPr>
          <a:xfrm>
            <a:off x="9465762" y="3124201"/>
            <a:ext cx="3774876"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Edit Master text styles</a:t>
            </a:r>
          </a:p>
        </p:txBody>
      </p:sp>
      <p:sp>
        <p:nvSpPr>
          <p:cNvPr id="20" name="Text Placeholder 3"/>
          <p:cNvSpPr>
            <a:spLocks noGrp="1"/>
          </p:cNvSpPr>
          <p:nvPr>
            <p:ph type="body" sz="half" idx="17"/>
          </p:nvPr>
        </p:nvSpPr>
        <p:spPr>
          <a:xfrm>
            <a:off x="9465995" y="3815715"/>
            <a:ext cx="3774643" cy="341675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smtClean="0"/>
              <a:t>Edit Master text styles</a:t>
            </a:r>
          </a:p>
        </p:txBody>
      </p:sp>
      <p:cxnSp>
        <p:nvCxnSpPr>
          <p:cNvPr id="17" name="Straight Connector 16"/>
          <p:cNvCxnSpPr/>
          <p:nvPr/>
        </p:nvCxnSpPr>
        <p:spPr>
          <a:xfrm>
            <a:off x="5284765" y="3083560"/>
            <a:ext cx="0" cy="41909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9326881" y="3083560"/>
            <a:ext cx="0" cy="41909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61BEF0D-F0BB-DE4B-95CE-6DB70DBA9567}" type="datetimeFigureOut">
              <a:rPr lang="en-US" smtClean="0"/>
              <a:pPr/>
              <a:t>3/16/2026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462395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385945" y="1168402"/>
            <a:ext cx="10590791" cy="848357"/>
          </a:xfrm>
        </p:spPr>
        <p:txBody>
          <a:bodyPr/>
          <a:lstStyle>
            <a:lvl1pPr>
              <a:defRPr sz="4320"/>
            </a:lvl1pPr>
          </a:lstStyle>
          <a:p>
            <a:r>
              <a:rPr lang="en-US" smtClean="0"/>
              <a:t>Click to edit Master title style</a:t>
            </a:r>
            <a:endParaRPr lang="en-US" dirty="0"/>
          </a:p>
        </p:txBody>
      </p:sp>
      <p:sp>
        <p:nvSpPr>
          <p:cNvPr id="3" name="Text Placeholder 2"/>
          <p:cNvSpPr>
            <a:spLocks noGrp="1"/>
          </p:cNvSpPr>
          <p:nvPr>
            <p:ph type="body" idx="1"/>
          </p:nvPr>
        </p:nvSpPr>
        <p:spPr>
          <a:xfrm>
            <a:off x="1385945" y="5439413"/>
            <a:ext cx="3660526"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Edit Master text styles</a:t>
            </a:r>
          </a:p>
        </p:txBody>
      </p:sp>
      <p:sp>
        <p:nvSpPr>
          <p:cNvPr id="19" name="Picture Placeholder 2"/>
          <p:cNvSpPr>
            <a:spLocks noGrp="1" noChangeAspect="1"/>
          </p:cNvSpPr>
          <p:nvPr>
            <p:ph type="pic" idx="15"/>
          </p:nvPr>
        </p:nvSpPr>
        <p:spPr>
          <a:xfrm>
            <a:off x="1601464" y="3124200"/>
            <a:ext cx="3229490" cy="190981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smtClean="0"/>
              <a:t>Click icon to add picture</a:t>
            </a:r>
            <a:endParaRPr lang="en-US" dirty="0"/>
          </a:p>
        </p:txBody>
      </p:sp>
      <p:sp>
        <p:nvSpPr>
          <p:cNvPr id="22" name="Text Placeholder 3"/>
          <p:cNvSpPr>
            <a:spLocks noGrp="1"/>
          </p:cNvSpPr>
          <p:nvPr>
            <p:ph type="body" sz="half" idx="18"/>
          </p:nvPr>
        </p:nvSpPr>
        <p:spPr>
          <a:xfrm>
            <a:off x="1385945" y="6130927"/>
            <a:ext cx="3660526" cy="110154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smtClean="0"/>
              <a:t>Edit Master text styles</a:t>
            </a:r>
          </a:p>
        </p:txBody>
      </p:sp>
      <p:sp>
        <p:nvSpPr>
          <p:cNvPr id="5" name="Text Placeholder 4"/>
          <p:cNvSpPr>
            <a:spLocks noGrp="1"/>
          </p:cNvSpPr>
          <p:nvPr>
            <p:ph type="body" sz="quarter" idx="3"/>
          </p:nvPr>
        </p:nvSpPr>
        <p:spPr>
          <a:xfrm>
            <a:off x="5482638" y="5439413"/>
            <a:ext cx="3660526" cy="691516"/>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Edit Master text styles</a:t>
            </a:r>
          </a:p>
        </p:txBody>
      </p:sp>
      <p:sp>
        <p:nvSpPr>
          <p:cNvPr id="41" name="Picture Placeholder 2"/>
          <p:cNvSpPr>
            <a:spLocks noGrp="1" noChangeAspect="1"/>
          </p:cNvSpPr>
          <p:nvPr>
            <p:ph type="pic" idx="21"/>
          </p:nvPr>
        </p:nvSpPr>
        <p:spPr>
          <a:xfrm>
            <a:off x="5698155" y="3124200"/>
            <a:ext cx="3229492" cy="190981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smtClean="0"/>
              <a:t>Click icon to add picture</a:t>
            </a:r>
            <a:endParaRPr lang="en-US" dirty="0"/>
          </a:p>
        </p:txBody>
      </p:sp>
      <p:sp>
        <p:nvSpPr>
          <p:cNvPr id="23" name="Text Placeholder 3"/>
          <p:cNvSpPr>
            <a:spLocks noGrp="1"/>
          </p:cNvSpPr>
          <p:nvPr>
            <p:ph type="body" sz="half" idx="19"/>
          </p:nvPr>
        </p:nvSpPr>
        <p:spPr>
          <a:xfrm>
            <a:off x="5484206" y="6130926"/>
            <a:ext cx="3660526" cy="110154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smtClean="0"/>
              <a:t>Edit Master text styles</a:t>
            </a:r>
          </a:p>
        </p:txBody>
      </p:sp>
      <p:sp>
        <p:nvSpPr>
          <p:cNvPr id="14" name="Text Placeholder 4"/>
          <p:cNvSpPr>
            <a:spLocks noGrp="1"/>
          </p:cNvSpPr>
          <p:nvPr>
            <p:ph type="body" sz="quarter" idx="13"/>
          </p:nvPr>
        </p:nvSpPr>
        <p:spPr>
          <a:xfrm>
            <a:off x="9579331" y="5439414"/>
            <a:ext cx="3661314"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Edit Master text styles</a:t>
            </a:r>
          </a:p>
        </p:txBody>
      </p:sp>
      <p:sp>
        <p:nvSpPr>
          <p:cNvPr id="42" name="Picture Placeholder 2"/>
          <p:cNvSpPr>
            <a:spLocks noGrp="1" noChangeAspect="1"/>
          </p:cNvSpPr>
          <p:nvPr>
            <p:ph type="pic" idx="22"/>
          </p:nvPr>
        </p:nvSpPr>
        <p:spPr>
          <a:xfrm>
            <a:off x="9795637" y="3124200"/>
            <a:ext cx="3229490" cy="190981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smtClean="0"/>
              <a:t>Click icon to add picture</a:t>
            </a:r>
            <a:endParaRPr lang="en-US" dirty="0"/>
          </a:p>
        </p:txBody>
      </p:sp>
      <p:sp>
        <p:nvSpPr>
          <p:cNvPr id="24" name="Text Placeholder 3"/>
          <p:cNvSpPr>
            <a:spLocks noGrp="1"/>
          </p:cNvSpPr>
          <p:nvPr>
            <p:ph type="body" sz="half" idx="20"/>
          </p:nvPr>
        </p:nvSpPr>
        <p:spPr>
          <a:xfrm>
            <a:off x="9579330" y="6130925"/>
            <a:ext cx="3661315" cy="110154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smtClean="0"/>
              <a:t>Edit Master text styles</a:t>
            </a:r>
          </a:p>
        </p:txBody>
      </p:sp>
      <p:cxnSp>
        <p:nvCxnSpPr>
          <p:cNvPr id="43" name="Straight Connector 42"/>
          <p:cNvCxnSpPr/>
          <p:nvPr/>
        </p:nvCxnSpPr>
        <p:spPr>
          <a:xfrm>
            <a:off x="5286997" y="3083560"/>
            <a:ext cx="0" cy="41909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9357362" y="3083560"/>
            <a:ext cx="0" cy="41909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61BEF0D-F0BB-DE4B-95CE-6DB70DBA9567}" type="datetimeFigureOut">
              <a:rPr lang="en-US" smtClean="0"/>
              <a:pPr/>
              <a:t>3/16/2026</a:t>
            </a:fld>
            <a:endParaRPr lang="en-US" dirty="0"/>
          </a:p>
        </p:txBody>
      </p:sp>
      <p:sp>
        <p:nvSpPr>
          <p:cNvPr id="8" name="Footer Placeholder 7"/>
          <p:cNvSpPr>
            <a:spLocks noGrp="1"/>
          </p:cNvSpPr>
          <p:nvPr>
            <p:ph type="ftr" sz="quarter" idx="11"/>
          </p:nvPr>
        </p:nvSpPr>
        <p:spPr>
          <a:xfrm>
            <a:off x="673333" y="7670206"/>
            <a:ext cx="4373138" cy="36576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9058322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385945" y="1168402"/>
            <a:ext cx="10590791" cy="848357"/>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85945" y="3124200"/>
            <a:ext cx="10590791" cy="4099560"/>
          </a:xfrm>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2834527" y="7670206"/>
            <a:ext cx="1188719" cy="365759"/>
          </a:xfrm>
        </p:spPr>
        <p:txBody>
          <a:bodyPr/>
          <a:lstStyle/>
          <a:p>
            <a:fld id="{55C6B4A9-1611-4792-9094-5F34BCA07E0B}"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3601234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10302283" y="1534160"/>
            <a:ext cx="1691958" cy="5698308"/>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85945" y="1534160"/>
            <a:ext cx="7507230" cy="569830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2783725" y="7670206"/>
            <a:ext cx="1190562" cy="365759"/>
          </a:xfrm>
        </p:spPr>
        <p:txBody>
          <a:bodyPr/>
          <a:lstStyle/>
          <a:p>
            <a:fld id="{B61BEF0D-F0BB-DE4B-95CE-6DB70DBA9567}" type="datetimeFigureOut">
              <a:rPr lang="en-US" smtClean="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5676573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08375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53838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591135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24590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058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4630400" cy="8229600"/>
            <a:chOff x="0" y="0"/>
            <a:chExt cx="12192000" cy="6858000"/>
          </a:xfrm>
        </p:grpSpPr>
        <p:sp>
          <p:nvSpPr>
            <p:cNvPr id="7" name="Rectangle 6"/>
            <p:cNvSpPr/>
            <p:nvPr/>
          </p:nvSpPr>
          <p:spPr>
            <a:xfrm>
              <a:off x="0" y="0"/>
              <a:ext cx="12192000" cy="6858000"/>
            </a:xfrm>
            <a:prstGeom prst="rect">
              <a:avLst/>
            </a:prstGeom>
            <a:blipFill>
              <a:blip r:embed="rId24">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385945" y="1168402"/>
            <a:ext cx="10513696" cy="848357"/>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385945" y="3124200"/>
            <a:ext cx="10513696" cy="409956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783725" y="7670206"/>
            <a:ext cx="1188719" cy="365759"/>
          </a:xfrm>
          <a:prstGeom prst="rect">
            <a:avLst/>
          </a:prstGeom>
        </p:spPr>
        <p:txBody>
          <a:bodyPr vert="horz" lIns="91440" tIns="45720" rIns="91440" bIns="45720" rtlCol="0" anchor="ctr"/>
          <a:lstStyle>
            <a:lvl1pPr algn="r">
              <a:defRPr sz="1200" b="1" i="0">
                <a:solidFill>
                  <a:schemeClr val="accent1"/>
                </a:solidFill>
              </a:defRPr>
            </a:lvl1pPr>
          </a:lstStyle>
          <a:p>
            <a:fld id="{B61BEF0D-F0BB-DE4B-95CE-6DB70DBA9567}" type="datetimeFigureOut">
              <a:rPr lang="en-US" smtClean="0"/>
              <a:pPr/>
              <a:t>3/16/2026</a:t>
            </a:fld>
            <a:endParaRPr lang="en-US" dirty="0"/>
          </a:p>
        </p:txBody>
      </p:sp>
      <p:sp>
        <p:nvSpPr>
          <p:cNvPr id="5" name="Footer Placeholder 4"/>
          <p:cNvSpPr>
            <a:spLocks noGrp="1"/>
          </p:cNvSpPr>
          <p:nvPr>
            <p:ph type="ftr" sz="quarter" idx="3"/>
          </p:nvPr>
        </p:nvSpPr>
        <p:spPr>
          <a:xfrm>
            <a:off x="673333" y="7670206"/>
            <a:ext cx="4631754" cy="365761"/>
          </a:xfrm>
          <a:prstGeom prst="rect">
            <a:avLst/>
          </a:prstGeom>
        </p:spPr>
        <p:txBody>
          <a:bodyPr vert="horz" lIns="91440" tIns="45720" rIns="91440" bIns="45720" rtlCol="0" anchor="ctr"/>
          <a:lstStyle>
            <a:lvl1pPr algn="l">
              <a:defRPr sz="1200" b="1" i="0">
                <a:solidFill>
                  <a:schemeClr val="accent1"/>
                </a:solidFill>
              </a:defRPr>
            </a:lvl1pPr>
          </a:lstStyle>
          <a:p>
            <a:endParaRPr lang="en-US" dirty="0"/>
          </a:p>
        </p:txBody>
      </p:sp>
      <p:sp>
        <p:nvSpPr>
          <p:cNvPr id="21" name="Rectangle 20"/>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2423049" y="354876"/>
            <a:ext cx="1005839" cy="921224"/>
          </a:xfrm>
          <a:prstGeom prst="rect">
            <a:avLst/>
          </a:prstGeom>
        </p:spPr>
        <p:txBody>
          <a:bodyPr vert="horz" lIns="91440" tIns="45720" rIns="91440" bIns="45720" rtlCol="0" anchor="b"/>
          <a:lstStyle>
            <a:lvl1pPr algn="ctr">
              <a:defRPr sz="3360" b="0" i="0">
                <a:solidFill>
                  <a:schemeClr val="bg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1867161"/>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9" r:id="rId20"/>
    <p:sldLayoutId id="2147483712" r:id="rId21"/>
    <p:sldLayoutId id="2147483714" r:id="rId22"/>
  </p:sldLayoutIdLst>
  <p:hf sldNum="0" hdr="0" ftr="0" dt="0"/>
  <p:txStyles>
    <p:titleStyle>
      <a:lvl1pPr algn="l" defTabSz="548640" rtl="0" eaLnBrk="1" latinLnBrk="0" hangingPunct="1">
        <a:spcBef>
          <a:spcPct val="0"/>
        </a:spcBef>
        <a:buNone/>
        <a:defRPr sz="432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160" b="0" i="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1920" b="0" i="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680" b="0" i="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5946" y="2519680"/>
            <a:ext cx="10590790" cy="1169725"/>
          </a:xfrm>
        </p:spPr>
        <p:txBody>
          <a:bodyPr/>
          <a:lstStyle/>
          <a:p>
            <a:r>
              <a:rPr lang="en-US" dirty="0"/>
              <a:t>Applied Probability for </a:t>
            </a:r>
            <a:r>
              <a:rPr lang="en-US" dirty="0" smtClean="0"/>
              <a:t>AI</a:t>
            </a:r>
            <a:br>
              <a:rPr lang="en-US" dirty="0" smtClean="0"/>
            </a:br>
            <a:r>
              <a:rPr lang="en-US" dirty="0" smtClean="0"/>
              <a:t>         </a:t>
            </a:r>
            <a:r>
              <a:rPr lang="en-US" sz="7200" dirty="0"/>
              <a:t>(</a:t>
            </a:r>
            <a:r>
              <a:rPr lang="en-US" dirty="0"/>
              <a:t>CMAI 6203 )</a:t>
            </a:r>
          </a:p>
        </p:txBody>
      </p:sp>
      <p:sp>
        <p:nvSpPr>
          <p:cNvPr id="3" name="Subtitle 2"/>
          <p:cNvSpPr>
            <a:spLocks noGrp="1"/>
          </p:cNvSpPr>
          <p:nvPr>
            <p:ph type="subTitle" idx="1"/>
          </p:nvPr>
        </p:nvSpPr>
        <p:spPr>
          <a:xfrm>
            <a:off x="1385946" y="5732856"/>
            <a:ext cx="11807540" cy="1033704"/>
          </a:xfrm>
        </p:spPr>
        <p:txBody>
          <a:bodyPr/>
          <a:lstStyle/>
          <a:p>
            <a:r>
              <a:rPr lang="en-US" sz="2400" b="1" dirty="0">
                <a:solidFill>
                  <a:schemeClr val="bg1"/>
                </a:solidFill>
                <a:latin typeface="Times New Roman" panose="02020603050405020304" pitchFamily="18" charset="0"/>
                <a:ea typeface="Brygada 1918 Bold" pitchFamily="34" charset="-122"/>
                <a:cs typeface="Times New Roman" panose="02020603050405020304" pitchFamily="18" charset="0"/>
              </a:rPr>
              <a:t>Skewness and Kurtosis in Data Analysis: Why They Matter for AI</a:t>
            </a:r>
            <a:endParaRPr lang="en-US" sz="2400" dirty="0">
              <a:solidFill>
                <a:schemeClr val="bg1"/>
              </a:solidFill>
              <a:latin typeface="Times New Roman" panose="02020603050405020304" pitchFamily="18" charset="0"/>
              <a:cs typeface="Times New Roman" panose="02020603050405020304" pitchFamily="18" charset="0"/>
            </a:endParaRPr>
          </a:p>
          <a:p>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Rectangle 4"/>
          <p:cNvSpPr/>
          <p:nvPr/>
        </p:nvSpPr>
        <p:spPr>
          <a:xfrm>
            <a:off x="3657600" y="4197901"/>
            <a:ext cx="7315200" cy="978729"/>
          </a:xfrm>
          <a:prstGeom prst="rect">
            <a:avLst/>
          </a:prstGeom>
        </p:spPr>
        <p:txBody>
          <a:bodyPr>
            <a:spAutoFit/>
          </a:bodyPr>
          <a:lstStyle/>
          <a:p>
            <a:r>
              <a:rPr lang="en-US" sz="3600" dirty="0" smtClean="0">
                <a:solidFill>
                  <a:schemeClr val="bg2"/>
                </a:solidFill>
                <a:latin typeface="+mj-lt"/>
                <a:ea typeface="+mj-ea"/>
                <a:cs typeface="+mj-cs"/>
              </a:rPr>
              <a:t>Week-6                          Lecture</a:t>
            </a:r>
            <a:r>
              <a:rPr lang="en-US" sz="3360" dirty="0"/>
              <a:t/>
            </a:r>
            <a:br>
              <a:rPr lang="en-US" sz="3360" dirty="0"/>
            </a:br>
            <a:r>
              <a:rPr lang="en-US" sz="2160" dirty="0"/>
              <a:t>		</a:t>
            </a:r>
          </a:p>
        </p:txBody>
      </p:sp>
    </p:spTree>
    <p:extLst>
      <p:ext uri="{BB962C8B-B14F-4D97-AF65-F5344CB8AC3E}">
        <p14:creationId xmlns:p14="http://schemas.microsoft.com/office/powerpoint/2010/main" val="25806574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5" name="Text 2"/>
          <p:cNvSpPr/>
          <p:nvPr/>
        </p:nvSpPr>
        <p:spPr>
          <a:xfrm>
            <a:off x="694134" y="982266"/>
            <a:ext cx="13242131" cy="1322070"/>
          </a:xfrm>
          <a:prstGeom prst="rect">
            <a:avLst/>
          </a:prstGeom>
          <a:noFill/>
          <a:ln/>
        </p:spPr>
        <p:txBody>
          <a:bodyPr wrap="square" lIns="0" tIns="0" rIns="0" bIns="0" rtlCol="0" anchor="t"/>
          <a:lstStyle/>
          <a:p>
            <a:pPr marL="0" indent="0" algn="l">
              <a:lnSpc>
                <a:spcPts val="5200"/>
              </a:lnSpc>
              <a:buNone/>
            </a:pPr>
            <a:r>
              <a:rPr lang="en-US" sz="4150" b="1" dirty="0">
                <a:solidFill>
                  <a:schemeClr val="bg1"/>
                </a:solidFill>
                <a:latin typeface="Brygada 1918 Bold" pitchFamily="34" charset="0"/>
                <a:ea typeface="Brygada 1918 Bold" pitchFamily="34" charset="-122"/>
                <a:cs typeface="Brygada 1918 Bold" pitchFamily="34" charset="-120"/>
              </a:rPr>
              <a:t>Understanding Data Shape Beyond Mean and Variance</a:t>
            </a:r>
            <a:endParaRPr lang="en-US" sz="4150" dirty="0">
              <a:solidFill>
                <a:schemeClr val="bg1"/>
              </a:solidFill>
            </a:endParaRPr>
          </a:p>
        </p:txBody>
      </p:sp>
      <p:sp>
        <p:nvSpPr>
          <p:cNvPr id="7" name="Text 3"/>
          <p:cNvSpPr/>
          <p:nvPr/>
        </p:nvSpPr>
        <p:spPr>
          <a:xfrm>
            <a:off x="694134" y="2964954"/>
            <a:ext cx="13756652" cy="1222534"/>
          </a:xfrm>
          <a:prstGeom prst="rect">
            <a:avLst/>
          </a:prstGeom>
          <a:noFill/>
          <a:ln/>
        </p:spPr>
        <p:txBody>
          <a:bodyPr wrap="square" lIns="0" tIns="0" rIns="0" bIns="0" rtlCol="0" anchor="t"/>
          <a:lstStyle/>
          <a:p>
            <a:pPr marL="0" indent="0" algn="l">
              <a:lnSpc>
                <a:spcPct val="150000"/>
              </a:lnSpc>
              <a:buNone/>
            </a:pPr>
            <a:r>
              <a:rPr lang="en-US" sz="2400" dirty="0">
                <a:latin typeface="Montserrat Medium" pitchFamily="34" charset="0"/>
                <a:ea typeface="Montserrat Medium" pitchFamily="34" charset="-122"/>
                <a:cs typeface="Montserrat Medium" pitchFamily="34" charset="-120"/>
              </a:rPr>
              <a:t>Mean and standard deviation describe center and spread but miss critical distribution shape details that can make or break your analysis</a:t>
            </a:r>
            <a:r>
              <a:rPr lang="en-US" sz="2400" dirty="0" smtClean="0">
                <a:latin typeface="Montserrat Medium" pitchFamily="34" charset="0"/>
                <a:ea typeface="Montserrat Medium" pitchFamily="34" charset="-122"/>
                <a:cs typeface="Montserrat Medium" pitchFamily="34" charset="-120"/>
              </a:rPr>
              <a:t>.</a:t>
            </a:r>
          </a:p>
          <a:p>
            <a:pPr>
              <a:lnSpc>
                <a:spcPct val="150000"/>
              </a:lnSpc>
            </a:pPr>
            <a:endParaRPr lang="en-US" sz="2400" b="1" dirty="0" smtClean="0">
              <a:latin typeface="Montserrat Medium" pitchFamily="34" charset="0"/>
              <a:ea typeface="Montserrat Medium" pitchFamily="34" charset="-122"/>
              <a:cs typeface="Montserrat Medium" pitchFamily="34" charset="-120"/>
            </a:endParaRPr>
          </a:p>
          <a:p>
            <a:pPr>
              <a:lnSpc>
                <a:spcPct val="150000"/>
              </a:lnSpc>
            </a:pPr>
            <a:r>
              <a:rPr lang="en-US" sz="2400" b="1" dirty="0" smtClean="0">
                <a:latin typeface="Montserrat Medium" pitchFamily="34" charset="0"/>
                <a:ea typeface="Montserrat Medium" pitchFamily="34" charset="-122"/>
                <a:cs typeface="Montserrat Medium" pitchFamily="34" charset="-120"/>
              </a:rPr>
              <a:t>Skewness </a:t>
            </a:r>
            <a:r>
              <a:rPr lang="en-US" sz="2400" b="1" dirty="0">
                <a:latin typeface="Montserrat Medium" pitchFamily="34" charset="0"/>
                <a:ea typeface="Montserrat Medium" pitchFamily="34" charset="-122"/>
                <a:cs typeface="Montserrat Medium" pitchFamily="34" charset="-120"/>
              </a:rPr>
              <a:t>and kurtosis</a:t>
            </a:r>
            <a:r>
              <a:rPr lang="en-US" sz="2400" dirty="0">
                <a:latin typeface="Montserrat Medium" pitchFamily="34" charset="0"/>
                <a:ea typeface="Montserrat Medium" pitchFamily="34" charset="-122"/>
                <a:cs typeface="Montserrat Medium" pitchFamily="34" charset="-120"/>
              </a:rPr>
              <a:t> reveal asymmetry and tail behavior—essential for understanding real-world data patterns that deviate from ideal distributions</a:t>
            </a:r>
            <a:r>
              <a:rPr lang="en-US" sz="2400" dirty="0" smtClean="0">
                <a:solidFill>
                  <a:srgbClr val="F4CAB8"/>
                </a:solidFill>
                <a:latin typeface="Montserrat Medium" pitchFamily="34" charset="0"/>
                <a:ea typeface="Montserrat Medium" pitchFamily="34" charset="-122"/>
                <a:cs typeface="Montserrat Medium" pitchFamily="34" charset="-120"/>
              </a:rPr>
              <a:t>.</a:t>
            </a:r>
          </a:p>
          <a:p>
            <a:pPr>
              <a:lnSpc>
                <a:spcPct val="150000"/>
              </a:lnSpc>
            </a:pPr>
            <a:r>
              <a:rPr lang="en-US" sz="2400" dirty="0">
                <a:latin typeface="Montserrat Medium" pitchFamily="34" charset="0"/>
                <a:ea typeface="Montserrat Medium" pitchFamily="34" charset="-122"/>
                <a:cs typeface="Montserrat Medium" pitchFamily="34" charset="-120"/>
              </a:rPr>
              <a:t>Karl Pearson introduced skewness (1895) and kurtosis (1905) to enrich statistical descriptions beyond simple averages</a:t>
            </a:r>
            <a:r>
              <a:rPr lang="en-US" sz="2400" dirty="0">
                <a:solidFill>
                  <a:srgbClr val="F4CAB8"/>
                </a:solidFill>
                <a:latin typeface="Montserrat Medium" pitchFamily="34" charset="0"/>
                <a:ea typeface="Montserrat Medium" pitchFamily="34" charset="-122"/>
                <a:cs typeface="Montserrat Medium" pitchFamily="34" charset="-120"/>
              </a:rPr>
              <a:t>.</a:t>
            </a:r>
            <a:endParaRPr lang="en-US" sz="2400" dirty="0"/>
          </a:p>
          <a:p>
            <a:pPr>
              <a:lnSpc>
                <a:spcPct val="150000"/>
              </a:lnSpc>
            </a:pPr>
            <a:endParaRPr lang="en-US" sz="2400" dirty="0"/>
          </a:p>
          <a:p>
            <a:pPr marL="0" indent="0" algn="l">
              <a:lnSpc>
                <a:spcPct val="150000"/>
              </a:lnSpc>
              <a:buNone/>
            </a:pPr>
            <a:endParaRPr lang="en-US" sz="2400" dirty="0"/>
          </a:p>
        </p:txBody>
      </p:sp>
      <p:sp>
        <p:nvSpPr>
          <p:cNvPr id="8" name="Text 4"/>
          <p:cNvSpPr/>
          <p:nvPr/>
        </p:nvSpPr>
        <p:spPr>
          <a:xfrm>
            <a:off x="9623584" y="4682847"/>
            <a:ext cx="4320183" cy="1222534"/>
          </a:xfrm>
          <a:prstGeom prst="rect">
            <a:avLst/>
          </a:prstGeom>
          <a:noFill/>
          <a:ln/>
        </p:spPr>
        <p:txBody>
          <a:bodyPr wrap="square" lIns="0" tIns="0" rIns="0" bIns="0" rtlCol="0" anchor="t"/>
          <a:lstStyle/>
          <a:p>
            <a:pPr marL="0" indent="0" algn="l">
              <a:lnSpc>
                <a:spcPts val="2400"/>
              </a:lnSpc>
              <a:buNone/>
            </a:pPr>
            <a:endParaRPr lang="en-US" sz="15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5" name="Rectangle 4"/>
          <p:cNvSpPr/>
          <p:nvPr/>
        </p:nvSpPr>
        <p:spPr>
          <a:xfrm>
            <a:off x="718458" y="2657691"/>
            <a:ext cx="4310742" cy="5016758"/>
          </a:xfrm>
          <a:prstGeom prst="rect">
            <a:avLst/>
          </a:prstGeom>
        </p:spPr>
        <p:txBody>
          <a:bodyPr wrap="square">
            <a:spAutoFit/>
          </a:bodyPr>
          <a:lstStyle/>
          <a:p>
            <a:pPr algn="just">
              <a:lnSpc>
                <a:spcPct val="200000"/>
              </a:lnSpc>
            </a:pPr>
            <a:r>
              <a:rPr lang="en-US" sz="2000" b="1" dirty="0">
                <a:latin typeface="Times New Roman" panose="02020603050405020304" pitchFamily="18" charset="0"/>
                <a:cs typeface="Times New Roman" panose="02020603050405020304" pitchFamily="18" charset="0"/>
              </a:rPr>
              <a:t>Skewness</a:t>
            </a:r>
            <a:r>
              <a:rPr lang="en-US" sz="2000" dirty="0">
                <a:latin typeface="Times New Roman" panose="02020603050405020304" pitchFamily="18" charset="0"/>
                <a:cs typeface="Times New Roman" panose="02020603050405020304" pitchFamily="18" charset="0"/>
              </a:rPr>
              <a:t> is a statistical measure that quantifies the </a:t>
            </a:r>
            <a:r>
              <a:rPr lang="en-US" sz="2000" b="1" dirty="0">
                <a:latin typeface="Times New Roman" panose="02020603050405020304" pitchFamily="18" charset="0"/>
                <a:cs typeface="Times New Roman" panose="02020603050405020304" pitchFamily="18" charset="0"/>
              </a:rPr>
              <a:t>asymmetry</a:t>
            </a:r>
            <a:r>
              <a:rPr lang="en-US" sz="2000" dirty="0">
                <a:latin typeface="Times New Roman" panose="02020603050405020304" pitchFamily="18" charset="0"/>
                <a:cs typeface="Times New Roman" panose="02020603050405020304" pitchFamily="18" charset="0"/>
              </a:rPr>
              <a:t> of a probability distribution around its mean. While a normal distribution is perfectly symmetrical (zero skew), a skewed distribution "leans" to one side, resulting in one "tail" being longer or fatter than the other.</a:t>
            </a:r>
          </a:p>
        </p:txBody>
      </p:sp>
      <p:sp>
        <p:nvSpPr>
          <p:cNvPr id="6" name="TextBox 5"/>
          <p:cNvSpPr txBox="1"/>
          <p:nvPr/>
        </p:nvSpPr>
        <p:spPr>
          <a:xfrm>
            <a:off x="1730829" y="1257300"/>
            <a:ext cx="9797142" cy="923330"/>
          </a:xfrm>
          <a:prstGeom prst="rect">
            <a:avLst/>
          </a:prstGeom>
          <a:noFill/>
        </p:spPr>
        <p:txBody>
          <a:bodyPr wrap="square" rtlCol="0">
            <a:spAutoFit/>
          </a:bodyPr>
          <a:lstStyle/>
          <a:p>
            <a:r>
              <a:rPr lang="en-US" sz="5400" dirty="0" smtClean="0">
                <a:solidFill>
                  <a:schemeClr val="bg1"/>
                </a:solidFill>
                <a:latin typeface="Times New Roman" panose="02020603050405020304" pitchFamily="18" charset="0"/>
                <a:cs typeface="Times New Roman" panose="02020603050405020304" pitchFamily="18" charset="0"/>
              </a:rPr>
              <a:t>Skewness</a:t>
            </a:r>
            <a:endParaRPr lang="en-US" sz="5400" dirty="0">
              <a:solidFill>
                <a:schemeClr val="bg1"/>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0733" y="2945098"/>
            <a:ext cx="7283624" cy="5284502"/>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2519" y="1056306"/>
            <a:ext cx="5352556" cy="769441"/>
          </a:xfrm>
          <a:prstGeom prst="rect">
            <a:avLst/>
          </a:prstGeom>
        </p:spPr>
        <p:txBody>
          <a:bodyPr wrap="none">
            <a:spAutoFit/>
          </a:bodyPr>
          <a:lstStyle/>
          <a:p>
            <a:r>
              <a:rPr lang="en-US" sz="4400" b="1" dirty="0">
                <a:solidFill>
                  <a:schemeClr val="bg1"/>
                </a:solidFill>
                <a:latin typeface="Google Sans"/>
              </a:rPr>
              <a:t>Types of Skewness</a:t>
            </a:r>
            <a:endParaRPr lang="en-US" sz="4400" dirty="0">
              <a:solidFill>
                <a:schemeClr val="bg1"/>
              </a:solidFill>
            </a:endParaRPr>
          </a:p>
        </p:txBody>
      </p:sp>
      <p:sp>
        <p:nvSpPr>
          <p:cNvPr id="3" name="Rectangle 2"/>
          <p:cNvSpPr/>
          <p:nvPr/>
        </p:nvSpPr>
        <p:spPr>
          <a:xfrm>
            <a:off x="985709" y="2747779"/>
            <a:ext cx="4533348" cy="5170646"/>
          </a:xfrm>
          <a:prstGeom prst="rect">
            <a:avLst/>
          </a:prstGeom>
        </p:spPr>
        <p:txBody>
          <a:bodyPr wrap="square">
            <a:spAutoFit/>
          </a:bodyPr>
          <a:lstStyle/>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Positive Skew (Right-Skewed):</a:t>
            </a:r>
            <a:r>
              <a:rPr lang="en-US" sz="2000" dirty="0">
                <a:latin typeface="Times New Roman" panose="02020603050405020304" pitchFamily="18" charset="0"/>
                <a:cs typeface="Times New Roman" panose="02020603050405020304" pitchFamily="18" charset="0"/>
              </a:rPr>
              <a:t> The tail extends toward the higher values on the right. Most data points are clustered on the left, but a few extreme high values pull the mean upward, making it greater than the median</a:t>
            </a:r>
            <a:r>
              <a:rPr lang="en-US" sz="2000" dirty="0" smtClean="0">
                <a:latin typeface="Times New Roman" panose="02020603050405020304" pitchFamily="18" charset="0"/>
                <a:cs typeface="Times New Roman" panose="02020603050405020304" pitchFamily="18" charset="0"/>
              </a:rPr>
              <a:t>.</a:t>
            </a:r>
          </a:p>
          <a:p>
            <a:pPr algn="just">
              <a:lnSpc>
                <a:spcPct val="150000"/>
              </a:lnSpc>
            </a:pPr>
            <a:r>
              <a:rPr lang="en-US" sz="2000" dirty="0" smtClean="0">
                <a:latin typeface="Times New Roman" panose="02020603050405020304" pitchFamily="18" charset="0"/>
                <a:cs typeface="Times New Roman" panose="02020603050405020304" pitchFamily="18" charset="0"/>
              </a:rPr>
              <a:t>Mean </a:t>
            </a:r>
            <a:r>
              <a:rPr lang="en-US" sz="2000" dirty="0">
                <a:latin typeface="Times New Roman" panose="02020603050405020304" pitchFamily="18" charset="0"/>
                <a:cs typeface="Times New Roman" panose="02020603050405020304" pitchFamily="18" charset="0"/>
              </a:rPr>
              <a:t>&gt; Median &gt; Mode.</a:t>
            </a:r>
          </a:p>
          <a:p>
            <a:pPr marL="742950" lvl="1" indent="-285750" algn="just">
              <a:lnSpc>
                <a:spcPct val="150000"/>
              </a:lnSpc>
              <a:buFont typeface="Arial" panose="020B0604020202020204" pitchFamily="34" charset="0"/>
              <a:buChar char="•"/>
            </a:pPr>
            <a:r>
              <a:rPr lang="en-US" sz="2000" i="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Household income, where most people earn a modest amount, but a few billionaires create a long right tail.</a:t>
            </a:r>
            <a:endParaRPr lang="en-US" sz="2000" b="0" i="0" dirty="0">
              <a:effectLst/>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0257" y="3296541"/>
            <a:ext cx="6929272" cy="4073121"/>
          </a:xfrm>
          <a:prstGeom prst="rect">
            <a:avLst/>
          </a:prstGeom>
        </p:spPr>
      </p:pic>
    </p:spTree>
    <p:extLst>
      <p:ext uri="{BB962C8B-B14F-4D97-AF65-F5344CB8AC3E}">
        <p14:creationId xmlns:p14="http://schemas.microsoft.com/office/powerpoint/2010/main" val="33543371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6709" y="3810967"/>
            <a:ext cx="6151920" cy="2862322"/>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The tail extends toward the lower values on the left. Most data points cluster on the right, but extreme low values pull the mean downward, making it less than the median</a:t>
            </a:r>
            <a:r>
              <a:rPr lang="en-US" sz="2000" dirty="0" smtClean="0">
                <a:latin typeface="Times New Roman" panose="02020603050405020304" pitchFamily="18" charset="0"/>
                <a:cs typeface="Times New Roman" panose="02020603050405020304" pitchFamily="18" charset="0"/>
              </a:rPr>
              <a:t>.</a:t>
            </a:r>
          </a:p>
          <a:p>
            <a:pPr algn="just">
              <a:lnSpc>
                <a:spcPct val="150000"/>
              </a:lnSpc>
            </a:pPr>
            <a:r>
              <a:rPr lang="en-US" sz="2000" dirty="0" smtClean="0">
                <a:latin typeface="Montserrat Medium" pitchFamily="34" charset="0"/>
                <a:ea typeface="Montserrat Medium" pitchFamily="34" charset="-122"/>
                <a:cs typeface="Montserrat Medium" pitchFamily="34" charset="-120"/>
              </a:rPr>
              <a:t>         Mean </a:t>
            </a:r>
            <a:r>
              <a:rPr lang="en-US" sz="2000" dirty="0">
                <a:latin typeface="Montserrat Medium" pitchFamily="34" charset="0"/>
                <a:ea typeface="Montserrat Medium" pitchFamily="34" charset="-122"/>
                <a:cs typeface="Montserrat Medium" pitchFamily="34" charset="-120"/>
              </a:rPr>
              <a:t>&lt; Median &lt; Mode.</a:t>
            </a:r>
            <a:endParaRPr lang="en-US" sz="2000" dirty="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US" sz="2000" i="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Age at retirement, where most people retire in their 60s, but a few retire much younger.</a:t>
            </a:r>
            <a:endParaRPr lang="en-US" sz="2000" b="0" i="0" dirty="0">
              <a:effectLst/>
              <a:latin typeface="Times New Roman" panose="02020603050405020304" pitchFamily="18" charset="0"/>
              <a:cs typeface="Times New Roman" panose="02020603050405020304" pitchFamily="18" charset="0"/>
            </a:endParaRPr>
          </a:p>
        </p:txBody>
      </p:sp>
      <p:sp>
        <p:nvSpPr>
          <p:cNvPr id="3" name="Rectangle 2"/>
          <p:cNvSpPr/>
          <p:nvPr/>
        </p:nvSpPr>
        <p:spPr>
          <a:xfrm>
            <a:off x="1048980" y="1137948"/>
            <a:ext cx="6798656" cy="707886"/>
          </a:xfrm>
          <a:prstGeom prst="rect">
            <a:avLst/>
          </a:prstGeom>
        </p:spPr>
        <p:txBody>
          <a:bodyPr wrap="none">
            <a:spAutoFit/>
          </a:bodyPr>
          <a:lstStyle/>
          <a:p>
            <a:r>
              <a:rPr lang="en-US" sz="4000" b="1" dirty="0">
                <a:solidFill>
                  <a:schemeClr val="bg1"/>
                </a:solidFill>
                <a:latin typeface="Times New Roman" panose="02020603050405020304" pitchFamily="18" charset="0"/>
                <a:cs typeface="Times New Roman" panose="02020603050405020304" pitchFamily="18" charset="0"/>
              </a:rPr>
              <a:t>Negative Skew (Left-Skewed):</a:t>
            </a:r>
            <a:endParaRPr lang="en-US" sz="4000" dirty="0">
              <a:solidFill>
                <a:schemeClr val="bg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7599" y="2933805"/>
            <a:ext cx="5665886" cy="4616646"/>
          </a:xfrm>
          <a:prstGeom prst="rect">
            <a:avLst/>
          </a:prstGeom>
        </p:spPr>
      </p:pic>
    </p:spTree>
    <p:extLst>
      <p:ext uri="{BB962C8B-B14F-4D97-AF65-F5344CB8AC3E}">
        <p14:creationId xmlns:p14="http://schemas.microsoft.com/office/powerpoint/2010/main" val="29346968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4828" y="1170605"/>
            <a:ext cx="4808047" cy="923330"/>
          </a:xfrm>
          <a:prstGeom prst="rect">
            <a:avLst/>
          </a:prstGeom>
        </p:spPr>
        <p:txBody>
          <a:bodyPr wrap="none">
            <a:spAutoFit/>
          </a:bodyPr>
          <a:lstStyle/>
          <a:p>
            <a:r>
              <a:rPr lang="en-US" sz="5400" b="1" dirty="0">
                <a:solidFill>
                  <a:srgbClr val="E6E8F0"/>
                </a:solidFill>
                <a:latin typeface="Times New Roman" panose="02020603050405020304" pitchFamily="18" charset="0"/>
                <a:cs typeface="Times New Roman" panose="02020603050405020304" pitchFamily="18" charset="0"/>
              </a:rPr>
              <a:t>Zero </a:t>
            </a:r>
            <a:r>
              <a:rPr lang="en-US" sz="5400" b="1" dirty="0" smtClean="0">
                <a:solidFill>
                  <a:srgbClr val="E6E8F0"/>
                </a:solidFill>
                <a:latin typeface="Times New Roman" panose="02020603050405020304" pitchFamily="18" charset="0"/>
                <a:cs typeface="Times New Roman" panose="02020603050405020304" pitchFamily="18" charset="0"/>
              </a:rPr>
              <a:t>Skewness:</a:t>
            </a:r>
            <a:endParaRPr lang="en-US" sz="5400" dirty="0">
              <a:latin typeface="Times New Roman" panose="02020603050405020304" pitchFamily="18" charset="0"/>
              <a:cs typeface="Times New Roman" panose="02020603050405020304" pitchFamily="18" charset="0"/>
            </a:endParaRPr>
          </a:p>
        </p:txBody>
      </p:sp>
      <p:sp>
        <p:nvSpPr>
          <p:cNvPr id="3" name="Rectangle 2"/>
          <p:cNvSpPr/>
          <p:nvPr/>
        </p:nvSpPr>
        <p:spPr>
          <a:xfrm>
            <a:off x="718459" y="2484723"/>
            <a:ext cx="3477986" cy="6555641"/>
          </a:xfrm>
          <a:prstGeom prst="rect">
            <a:avLst/>
          </a:prstGeom>
        </p:spPr>
        <p:txBody>
          <a:bodyPr wrap="squar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The distribution is perfectly symmetrical, like a bell curve. The mean, median, and mode are all equal and located at the center</a:t>
            </a:r>
            <a:r>
              <a:rPr lang="en-US" sz="2800" dirty="0" smtClean="0">
                <a:latin typeface="Times New Roman" panose="02020603050405020304" pitchFamily="18" charset="0"/>
                <a:cs typeface="Times New Roman" panose="02020603050405020304" pitchFamily="18" charset="0"/>
              </a:rPr>
              <a:t>.</a:t>
            </a:r>
          </a:p>
          <a:p>
            <a:pPr algn="just">
              <a:lnSpc>
                <a:spcPct val="150000"/>
              </a:lnSpc>
            </a:pPr>
            <a:r>
              <a:rPr lang="en-US" sz="2800" dirty="0">
                <a:latin typeface="Times New Roman" panose="02020603050405020304" pitchFamily="18" charset="0"/>
                <a:cs typeface="Times New Roman" panose="02020603050405020304" pitchFamily="18" charset="0"/>
              </a:rPr>
              <a:t>Perfectly </a:t>
            </a:r>
            <a:r>
              <a:rPr lang="en-US" sz="2800" dirty="0">
                <a:latin typeface="Times New Roman" panose="02020603050405020304" pitchFamily="18" charset="0"/>
                <a:cs typeface="Times New Roman" panose="02020603050405020304" pitchFamily="18" charset="0"/>
              </a:rPr>
              <a:t>balanced distribution like a normal curve.</a:t>
            </a:r>
          </a:p>
          <a:p>
            <a:pPr algn="just">
              <a:lnSpc>
                <a:spcPct val="150000"/>
              </a:lnSpc>
            </a:pPr>
            <a:endParaRPr lang="en-US"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914" y="3271942"/>
            <a:ext cx="7659915" cy="3558543"/>
          </a:xfrm>
          <a:prstGeom prst="rect">
            <a:avLst/>
          </a:prstGeom>
        </p:spPr>
      </p:pic>
    </p:spTree>
    <p:extLst>
      <p:ext uri="{BB962C8B-B14F-4D97-AF65-F5344CB8AC3E}">
        <p14:creationId xmlns:p14="http://schemas.microsoft.com/office/powerpoint/2010/main" val="34492290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1159329"/>
            <a:ext cx="7772400" cy="707886"/>
          </a:xfrm>
          <a:prstGeom prst="rect">
            <a:avLst/>
          </a:prstGeom>
          <a:noFill/>
        </p:spPr>
        <p:txBody>
          <a:bodyPr wrap="square" rtlCol="0">
            <a:spAutoFit/>
          </a:bodyPr>
          <a:lstStyle/>
          <a:p>
            <a:r>
              <a:rPr lang="en-US" sz="4000" dirty="0" smtClean="0">
                <a:solidFill>
                  <a:schemeClr val="bg1"/>
                </a:solidFill>
                <a:latin typeface="Times New Roman" panose="02020603050405020304" pitchFamily="18" charset="0"/>
                <a:cs typeface="Times New Roman" panose="02020603050405020304" pitchFamily="18" charset="0"/>
              </a:rPr>
              <a:t>How to measure skewness</a:t>
            </a:r>
            <a:endParaRPr lang="en-US" sz="4000" dirty="0">
              <a:solidFill>
                <a:schemeClr val="bg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636814" y="3135086"/>
            <a:ext cx="4800600" cy="4539191"/>
          </a:xfrm>
          <a:prstGeom prst="rect">
            <a:avLst/>
          </a:prstGeom>
          <a:noFill/>
        </p:spPr>
        <p:txBody>
          <a:bodyPr wrap="square" rtlCol="0">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It measures skewness between -1 and +1, where a value of 0 indicates symmetry, positive values indicate positive skew (long tail to the right), and negative values indicate negative skew.</a:t>
            </a:r>
            <a:endParaRPr lang="en-US" sz="28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7615" y="3546047"/>
            <a:ext cx="6816090" cy="2149877"/>
          </a:xfrm>
          <a:prstGeom prst="rect">
            <a:avLst/>
          </a:prstGeom>
        </p:spPr>
      </p:pic>
    </p:spTree>
    <p:extLst>
      <p:ext uri="{BB962C8B-B14F-4D97-AF65-F5344CB8AC3E}">
        <p14:creationId xmlns:p14="http://schemas.microsoft.com/office/powerpoint/2010/main" val="15750314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5413" y="3099138"/>
            <a:ext cx="12817929" cy="3323987"/>
          </a:xfrm>
          <a:prstGeom prst="rect">
            <a:avLst/>
          </a:prstGeom>
        </p:spPr>
        <p:txBody>
          <a:bodyPr wrap="squar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Understanding skewness is vital because many machine learning algorithms (like Linear Regression) assume that data is normally distributed. Heavily skewed data can lead to </a:t>
            </a:r>
            <a:r>
              <a:rPr lang="en-US" sz="2800" b="1" dirty="0">
                <a:latin typeface="Times New Roman" panose="02020603050405020304" pitchFamily="18" charset="0"/>
                <a:cs typeface="Times New Roman" panose="02020603050405020304" pitchFamily="18" charset="0"/>
              </a:rPr>
              <a:t>biased models</a:t>
            </a:r>
            <a:r>
              <a:rPr lang="en-US" sz="2800" dirty="0">
                <a:latin typeface="Times New Roman" panose="02020603050405020304" pitchFamily="18" charset="0"/>
                <a:cs typeface="Times New Roman" panose="02020603050405020304" pitchFamily="18" charset="0"/>
              </a:rPr>
              <a:t>, slower convergence in gradient-based algorithms, and misleading performance metrics. Practitioners often use transformations like </a:t>
            </a:r>
            <a:r>
              <a:rPr lang="en-US" sz="2800" b="1" dirty="0">
                <a:latin typeface="Times New Roman" panose="02020603050405020304" pitchFamily="18" charset="0"/>
                <a:cs typeface="Times New Roman" panose="02020603050405020304" pitchFamily="18" charset="0"/>
              </a:rPr>
              <a:t>Log</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Square Root</a:t>
            </a:r>
            <a:r>
              <a:rPr lang="en-US" sz="2800" dirty="0">
                <a:latin typeface="Times New Roman" panose="02020603050405020304" pitchFamily="18" charset="0"/>
                <a:cs typeface="Times New Roman" panose="02020603050405020304" pitchFamily="18" charset="0"/>
              </a:rPr>
              <a:t>, or </a:t>
            </a:r>
            <a:r>
              <a:rPr lang="en-US" sz="2800" b="1" dirty="0">
                <a:latin typeface="Times New Roman" panose="02020603050405020304" pitchFamily="18" charset="0"/>
                <a:cs typeface="Times New Roman" panose="02020603050405020304" pitchFamily="18" charset="0"/>
              </a:rPr>
              <a:t>Box-Cox</a:t>
            </a:r>
            <a:r>
              <a:rPr lang="en-US" sz="2800" dirty="0">
                <a:latin typeface="Times New Roman" panose="02020603050405020304" pitchFamily="18" charset="0"/>
                <a:cs typeface="Times New Roman" panose="02020603050405020304" pitchFamily="18" charset="0"/>
              </a:rPr>
              <a:t> to reduce skewness and bring the data closer to a normal distribution</a:t>
            </a:r>
          </a:p>
        </p:txBody>
      </p:sp>
      <p:sp>
        <p:nvSpPr>
          <p:cNvPr id="3" name="Rectangle 2"/>
          <p:cNvSpPr/>
          <p:nvPr/>
        </p:nvSpPr>
        <p:spPr>
          <a:xfrm>
            <a:off x="907146" y="1088962"/>
            <a:ext cx="8724440" cy="707886"/>
          </a:xfrm>
          <a:prstGeom prst="rect">
            <a:avLst/>
          </a:prstGeom>
        </p:spPr>
        <p:txBody>
          <a:bodyPr wrap="none">
            <a:spAutoFit/>
          </a:bodyPr>
          <a:lstStyle/>
          <a:p>
            <a:r>
              <a:rPr lang="en-US" sz="4000" b="1" dirty="0">
                <a:solidFill>
                  <a:srgbClr val="E6E8F0"/>
                </a:solidFill>
                <a:latin typeface="Times New Roman" panose="02020603050405020304" pitchFamily="18" charset="0"/>
                <a:cs typeface="Times New Roman" panose="02020603050405020304" pitchFamily="18" charset="0"/>
              </a:rPr>
              <a:t>Why It Matters in AI and Data Science</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09587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0727" y="2637472"/>
            <a:ext cx="5437416" cy="5632311"/>
          </a:xfrm>
          <a:prstGeom prst="rect">
            <a:avLst/>
          </a:prstGeom>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In the context of AI and machine learning, </a:t>
            </a:r>
            <a:r>
              <a:rPr lang="en-US" sz="2000" b="1" dirty="0">
                <a:latin typeface="Times New Roman" panose="02020603050405020304" pitchFamily="18" charset="0"/>
                <a:cs typeface="Times New Roman" panose="02020603050405020304" pitchFamily="18" charset="0"/>
              </a:rPr>
              <a:t>Kurtosis</a:t>
            </a:r>
            <a:r>
              <a:rPr lang="en-US" sz="2000" dirty="0">
                <a:latin typeface="Times New Roman" panose="02020603050405020304" pitchFamily="18" charset="0"/>
                <a:cs typeface="Times New Roman" panose="02020603050405020304" pitchFamily="18" charset="0"/>
              </a:rPr>
              <a:t> is a statistical measure that quantifies the "</a:t>
            </a:r>
            <a:r>
              <a:rPr lang="en-US" sz="2000" dirty="0" err="1">
                <a:latin typeface="Times New Roman" panose="02020603050405020304" pitchFamily="18" charset="0"/>
                <a:cs typeface="Times New Roman" panose="02020603050405020304" pitchFamily="18" charset="0"/>
              </a:rPr>
              <a:t>tailedness</a:t>
            </a:r>
            <a:r>
              <a:rPr lang="en-US" sz="2000" dirty="0">
                <a:latin typeface="Times New Roman" panose="02020603050405020304" pitchFamily="18" charset="0"/>
                <a:cs typeface="Times New Roman" panose="02020603050405020304" pitchFamily="18" charset="0"/>
              </a:rPr>
              <a:t>" of a data distribution, specifically indicating the presence and frequency of </a:t>
            </a:r>
            <a:r>
              <a:rPr lang="en-US" sz="2000" b="1" dirty="0" smtClean="0">
                <a:latin typeface="Times New Roman" panose="02020603050405020304" pitchFamily="18" charset="0"/>
                <a:cs typeface="Times New Roman" panose="02020603050405020304" pitchFamily="18" charset="0"/>
              </a:rPr>
              <a:t>outliers</a:t>
            </a:r>
          </a:p>
          <a:p>
            <a:pPr>
              <a:lnSpc>
                <a:spcPct val="150000"/>
              </a:lnSpc>
            </a:pPr>
            <a:r>
              <a:rPr lang="en-US" sz="2000" dirty="0">
                <a:latin typeface="Times New Roman" panose="02020603050405020304" pitchFamily="18" charset="0"/>
                <a:cs typeface="Times New Roman" panose="02020603050405020304" pitchFamily="18" charset="0"/>
              </a:rPr>
              <a:t>While often mistaken for "</a:t>
            </a:r>
            <a:r>
              <a:rPr lang="en-US" sz="2000" dirty="0" err="1">
                <a:latin typeface="Times New Roman" panose="02020603050405020304" pitchFamily="18" charset="0"/>
                <a:cs typeface="Times New Roman" panose="02020603050405020304" pitchFamily="18" charset="0"/>
              </a:rPr>
              <a:t>peakedness</a:t>
            </a:r>
            <a:r>
              <a:rPr lang="en-US" sz="2000" dirty="0">
                <a:latin typeface="Times New Roman" panose="02020603050405020304" pitchFamily="18" charset="0"/>
                <a:cs typeface="Times New Roman" panose="02020603050405020304" pitchFamily="18" charset="0"/>
              </a:rPr>
              <a:t>," in AI, kurtosis is used primarily to understand the behavior of extreme values in features and </a:t>
            </a:r>
            <a:r>
              <a:rPr lang="en-US" sz="2000" dirty="0" smtClean="0">
                <a:latin typeface="Times New Roman" panose="02020603050405020304" pitchFamily="18" charset="0"/>
                <a:cs typeface="Times New Roman" panose="02020603050405020304" pitchFamily="18" charset="0"/>
              </a:rPr>
              <a:t>residuals</a:t>
            </a:r>
          </a:p>
          <a:p>
            <a:pPr>
              <a:lnSpc>
                <a:spcPct val="150000"/>
              </a:lnSpc>
            </a:pPr>
            <a:r>
              <a:rPr lang="en-US" sz="2000" dirty="0"/>
              <a:t>There are three types of </a:t>
            </a:r>
            <a:r>
              <a:rPr lang="en-US" sz="2000" b="1" dirty="0"/>
              <a:t>kurtosis</a:t>
            </a:r>
            <a:r>
              <a:rPr lang="en-US" sz="2000" dirty="0"/>
              <a:t>, categorized by how their tails and peaks compare to a </a:t>
            </a:r>
            <a:r>
              <a:rPr lang="en-US" sz="2000" b="1" dirty="0"/>
              <a:t>Normal Distribution</a:t>
            </a:r>
            <a:endParaRPr lang="en-US" sz="2000" dirty="0">
              <a:latin typeface="Times New Roman" panose="02020603050405020304" pitchFamily="18" charset="0"/>
              <a:cs typeface="Times New Roman" panose="02020603050405020304" pitchFamily="18" charset="0"/>
            </a:endParaRPr>
          </a:p>
        </p:txBody>
      </p:sp>
      <p:sp>
        <p:nvSpPr>
          <p:cNvPr id="3" name="Rectangle 2"/>
          <p:cNvSpPr/>
          <p:nvPr/>
        </p:nvSpPr>
        <p:spPr>
          <a:xfrm>
            <a:off x="1247959" y="1121620"/>
            <a:ext cx="1877437" cy="646331"/>
          </a:xfrm>
          <a:prstGeom prst="rect">
            <a:avLst/>
          </a:prstGeom>
        </p:spPr>
        <p:txBody>
          <a:bodyPr wrap="none">
            <a:spAutoFit/>
          </a:bodyPr>
          <a:lstStyle/>
          <a:p>
            <a:r>
              <a:rPr lang="en-US" sz="3600" b="1" dirty="0">
                <a:solidFill>
                  <a:schemeClr val="bg1"/>
                </a:solidFill>
                <a:latin typeface="Times New Roman" panose="02020603050405020304" pitchFamily="18" charset="0"/>
                <a:cs typeface="Times New Roman" panose="02020603050405020304" pitchFamily="18" charset="0"/>
              </a:rPr>
              <a:t>Kurtosis</a:t>
            </a:r>
            <a:endParaRPr lang="en-US" sz="3600" dirty="0">
              <a:solidFill>
                <a:schemeClr val="bg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3897" y="3112673"/>
            <a:ext cx="6348332" cy="4006584"/>
          </a:xfrm>
          <a:prstGeom prst="rect">
            <a:avLst/>
          </a:prstGeom>
        </p:spPr>
      </p:pic>
    </p:spTree>
    <p:extLst>
      <p:ext uri="{BB962C8B-B14F-4D97-AF65-F5344CB8AC3E}">
        <p14:creationId xmlns:p14="http://schemas.microsoft.com/office/powerpoint/2010/main" val="42307220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7048" y="1154276"/>
            <a:ext cx="4546437" cy="523220"/>
          </a:xfrm>
          <a:prstGeom prst="rect">
            <a:avLst/>
          </a:prstGeom>
        </p:spPr>
        <p:txBody>
          <a:bodyPr wrap="none">
            <a:spAutoFit/>
          </a:bodyPr>
          <a:lstStyle/>
          <a:p>
            <a:r>
              <a:rPr lang="en-US" sz="2800" b="1" dirty="0">
                <a:solidFill>
                  <a:srgbClr val="E6E8F0"/>
                </a:solidFill>
                <a:latin typeface="Times New Roman" panose="02020603050405020304" pitchFamily="18" charset="0"/>
                <a:cs typeface="Times New Roman" panose="02020603050405020304" pitchFamily="18" charset="0"/>
              </a:rPr>
              <a:t>1. </a:t>
            </a:r>
            <a:r>
              <a:rPr lang="en-US" sz="2800" b="1" dirty="0" err="1">
                <a:solidFill>
                  <a:srgbClr val="E6E8F0"/>
                </a:solidFill>
                <a:latin typeface="Times New Roman" panose="02020603050405020304" pitchFamily="18" charset="0"/>
                <a:cs typeface="Times New Roman" panose="02020603050405020304" pitchFamily="18" charset="0"/>
              </a:rPr>
              <a:t>Mesokurtic</a:t>
            </a:r>
            <a:r>
              <a:rPr lang="en-US" sz="2800" b="1" dirty="0">
                <a:solidFill>
                  <a:srgbClr val="E6E8F0"/>
                </a:solidFill>
                <a:latin typeface="Times New Roman" panose="02020603050405020304" pitchFamily="18" charset="0"/>
                <a:cs typeface="Times New Roman" panose="02020603050405020304" pitchFamily="18" charset="0"/>
              </a:rPr>
              <a:t> (The Baseline</a:t>
            </a:r>
            <a:r>
              <a:rPr lang="en-US" b="1" dirty="0">
                <a:solidFill>
                  <a:srgbClr val="E6E8F0"/>
                </a:solidFill>
                <a:latin typeface="Google Sans"/>
              </a:rPr>
              <a:t>)</a:t>
            </a:r>
            <a:endParaRPr lang="en-US" dirty="0"/>
          </a:p>
        </p:txBody>
      </p:sp>
      <p:sp>
        <p:nvSpPr>
          <p:cNvPr id="4" name="TextBox 3"/>
          <p:cNvSpPr txBox="1"/>
          <p:nvPr/>
        </p:nvSpPr>
        <p:spPr>
          <a:xfrm>
            <a:off x="557452" y="2808514"/>
            <a:ext cx="12766662" cy="3323987"/>
          </a:xfrm>
          <a:prstGeom prst="rect">
            <a:avLst/>
          </a:prstGeom>
          <a:noFill/>
        </p:spPr>
        <p:txBody>
          <a:bodyPr wrap="square" rtlCol="0">
            <a:spAutoFit/>
          </a:bodyPr>
          <a:lstStyle/>
          <a:p>
            <a:pPr lvl="0" defTabSz="914400" eaLnBrk="0" fontAlgn="base" hangingPunct="0">
              <a:lnSpc>
                <a:spcPct val="150000"/>
              </a:lnSpc>
              <a:spcBef>
                <a:spcPct val="0"/>
              </a:spcBef>
              <a:spcAft>
                <a:spcPct val="0"/>
              </a:spcAft>
            </a:pPr>
            <a:r>
              <a:rPr lang="en-US" altLang="en-US" sz="2800" dirty="0">
                <a:latin typeface="Times New Roman" panose="02020603050405020304" pitchFamily="18" charset="0"/>
                <a:cs typeface="Times New Roman" panose="02020603050405020304" pitchFamily="18" charset="0"/>
              </a:rPr>
              <a:t>This is the </a:t>
            </a:r>
            <a:r>
              <a:rPr lang="en-US" altLang="en-US" sz="2800" b="1" dirty="0">
                <a:latin typeface="Times New Roman" panose="02020603050405020304" pitchFamily="18" charset="0"/>
                <a:cs typeface="Times New Roman" panose="02020603050405020304" pitchFamily="18" charset="0"/>
              </a:rPr>
              <a:t>Normal Distribution</a:t>
            </a:r>
            <a:r>
              <a:rPr lang="en-US" altLang="en-US" sz="2800" dirty="0">
                <a:latin typeface="Times New Roman" panose="02020603050405020304" pitchFamily="18" charset="0"/>
                <a:cs typeface="Times New Roman" panose="02020603050405020304" pitchFamily="18" charset="0"/>
              </a:rPr>
              <a:t>.</a:t>
            </a:r>
          </a:p>
          <a:p>
            <a:pPr lvl="0" defTabSz="914400" eaLnBrk="0" fontAlgn="base" hangingPunct="0">
              <a:lnSpc>
                <a:spcPct val="150000"/>
              </a:lnSpc>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Shape:</a:t>
            </a:r>
            <a:r>
              <a:rPr lang="en-US" altLang="en-US" sz="2800" dirty="0">
                <a:latin typeface="Times New Roman" panose="02020603050405020304" pitchFamily="18" charset="0"/>
                <a:cs typeface="Times New Roman" panose="02020603050405020304" pitchFamily="18" charset="0"/>
              </a:rPr>
              <a:t> A classic bell curve.</a:t>
            </a:r>
          </a:p>
          <a:p>
            <a:pPr lvl="0" defTabSz="914400" eaLnBrk="0" fontAlgn="base" hangingPunct="0">
              <a:lnSpc>
                <a:spcPct val="150000"/>
              </a:lnSpc>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Tails:</a:t>
            </a:r>
            <a:r>
              <a:rPr lang="en-US" altLang="en-US" sz="2800" dirty="0">
                <a:latin typeface="Times New Roman" panose="02020603050405020304" pitchFamily="18" charset="0"/>
                <a:cs typeface="Times New Roman" panose="02020603050405020304" pitchFamily="18" charset="0"/>
              </a:rPr>
              <a:t> Moderate; outliers are neither extremely rare nor extremely frequent.</a:t>
            </a:r>
          </a:p>
          <a:p>
            <a:pPr lvl="0" defTabSz="914400" eaLnBrk="0" fontAlgn="base" hangingPunct="0">
              <a:lnSpc>
                <a:spcPct val="150000"/>
              </a:lnSpc>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AI Context:</a:t>
            </a:r>
            <a:r>
              <a:rPr lang="en-US" altLang="en-US" sz="2800" dirty="0">
                <a:latin typeface="Times New Roman" panose="02020603050405020304" pitchFamily="18" charset="0"/>
                <a:cs typeface="Times New Roman" panose="02020603050405020304" pitchFamily="18" charset="0"/>
              </a:rPr>
              <a:t> This is the "gold standard" shape many algorithms assume for features or errors</a:t>
            </a:r>
            <a:endParaRPr lang="en-US" sz="2800" dirty="0">
              <a:latin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0" y="-230832"/>
            <a:ext cx="43282" cy="461665"/>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E6E8F0"/>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43277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8200" y="1154276"/>
            <a:ext cx="5738046" cy="646331"/>
          </a:xfrm>
          <a:prstGeom prst="rect">
            <a:avLst/>
          </a:prstGeom>
        </p:spPr>
        <p:txBody>
          <a:bodyPr wrap="none">
            <a:spAutoFit/>
          </a:bodyPr>
          <a:lstStyle/>
          <a:p>
            <a:r>
              <a:rPr lang="en-US" sz="3600" b="1" dirty="0">
                <a:solidFill>
                  <a:srgbClr val="E6E8F0"/>
                </a:solidFill>
                <a:latin typeface="Times New Roman" panose="02020603050405020304" pitchFamily="18" charset="0"/>
                <a:cs typeface="Times New Roman" panose="02020603050405020304" pitchFamily="18" charset="0"/>
              </a:rPr>
              <a:t>2. Leptokurtic (Thin &amp; Tall)</a:t>
            </a:r>
            <a:endParaRPr lang="en-US" sz="3600"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0" y="-138499"/>
            <a:ext cx="65" cy="276999"/>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TextBox 3"/>
          <p:cNvSpPr txBox="1"/>
          <p:nvPr/>
        </p:nvSpPr>
        <p:spPr>
          <a:xfrm>
            <a:off x="571499" y="3020786"/>
            <a:ext cx="13340443" cy="3139321"/>
          </a:xfrm>
          <a:prstGeom prst="rect">
            <a:avLst/>
          </a:prstGeom>
          <a:noFill/>
        </p:spPr>
        <p:txBody>
          <a:bodyPr wrap="square" rtlCol="0">
            <a:spAutoFit/>
          </a:bodyPr>
          <a:lstStyle/>
          <a:p>
            <a:pPr lvl="0" defTabSz="914400"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The name comes from the Greek </a:t>
            </a:r>
            <a:r>
              <a:rPr lang="en-US" altLang="en-US" sz="2400" i="1" dirty="0" err="1">
                <a:latin typeface="Times New Roman" panose="02020603050405020304" pitchFamily="18" charset="0"/>
                <a:cs typeface="Times New Roman" panose="02020603050405020304" pitchFamily="18" charset="0"/>
              </a:rPr>
              <a:t>lepto</a:t>
            </a:r>
            <a:r>
              <a:rPr lang="en-US" altLang="en-US" sz="2400" dirty="0">
                <a:latin typeface="Times New Roman" panose="02020603050405020304" pitchFamily="18" charset="0"/>
                <a:cs typeface="Times New Roman" panose="02020603050405020304" pitchFamily="18" charset="0"/>
              </a:rPr>
              <a:t>, meaning "slender."</a:t>
            </a:r>
          </a:p>
          <a:p>
            <a:pPr lvl="0" defTabSz="91440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Shape:</a:t>
            </a:r>
            <a:r>
              <a:rPr lang="en-US" altLang="en-US" sz="2400" dirty="0">
                <a:latin typeface="Times New Roman" panose="02020603050405020304" pitchFamily="18" charset="0"/>
                <a:cs typeface="Times New Roman" panose="02020603050405020304" pitchFamily="18" charset="0"/>
              </a:rPr>
              <a:t> A very sharp, skinny peak with </a:t>
            </a:r>
            <a:r>
              <a:rPr lang="en-US" altLang="en-US" sz="2400" b="1" dirty="0">
                <a:latin typeface="Times New Roman" panose="02020603050405020304" pitchFamily="18" charset="0"/>
                <a:cs typeface="Times New Roman" panose="02020603050405020304" pitchFamily="18" charset="0"/>
              </a:rPr>
              <a:t>thick, heavy tails</a:t>
            </a:r>
            <a:r>
              <a:rPr lang="en-US" altLang="en-US" sz="2400" dirty="0">
                <a:latin typeface="Times New Roman" panose="02020603050405020304" pitchFamily="18" charset="0"/>
                <a:cs typeface="Times New Roman" panose="02020603050405020304" pitchFamily="18" charset="0"/>
              </a:rPr>
              <a:t>.</a:t>
            </a:r>
          </a:p>
          <a:p>
            <a:pPr lvl="0" defTabSz="91440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Excess Kurtosis:</a:t>
            </a:r>
            <a:r>
              <a:rPr lang="en-US" altLang="en-US" sz="2400" dirty="0">
                <a:latin typeface="Times New Roman" panose="02020603050405020304" pitchFamily="18" charset="0"/>
                <a:cs typeface="Times New Roman" panose="02020603050405020304" pitchFamily="18" charset="0"/>
              </a:rPr>
              <a:t> Positive (&gt; 0).</a:t>
            </a:r>
          </a:p>
          <a:p>
            <a:pPr lvl="0" defTabSz="91440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AI Context:</a:t>
            </a:r>
            <a:r>
              <a:rPr lang="en-US" altLang="en-US" sz="2400" dirty="0">
                <a:latin typeface="Times New Roman" panose="02020603050405020304" pitchFamily="18" charset="0"/>
                <a:cs typeface="Times New Roman" panose="02020603050405020304" pitchFamily="18" charset="0"/>
              </a:rPr>
              <a:t> High leptokurtosis signals a high frequency of </a:t>
            </a:r>
            <a:r>
              <a:rPr lang="en-US" altLang="en-US" sz="2400" b="1" dirty="0">
                <a:latin typeface="Times New Roman" panose="02020603050405020304" pitchFamily="18" charset="0"/>
                <a:cs typeface="Times New Roman" panose="02020603050405020304" pitchFamily="18" charset="0"/>
              </a:rPr>
              <a:t>outliers</a:t>
            </a:r>
            <a:r>
              <a:rPr lang="en-US" altLang="en-US" sz="2400" dirty="0">
                <a:latin typeface="Times New Roman" panose="02020603050405020304" pitchFamily="18" charset="0"/>
                <a:cs typeface="Times New Roman" panose="02020603050405020304" pitchFamily="18" charset="0"/>
              </a:rPr>
              <a:t>. If your data looks like this, your model might be overly sensitive to extreme values, potentially requiring </a:t>
            </a:r>
            <a:r>
              <a:rPr lang="en-US" altLang="en-US" sz="2400" b="1" dirty="0">
                <a:latin typeface="Times New Roman" panose="02020603050405020304" pitchFamily="18" charset="0"/>
                <a:cs typeface="Times New Roman" panose="02020603050405020304" pitchFamily="18" charset="0"/>
              </a:rPr>
              <a:t>robust scaling</a:t>
            </a:r>
            <a:endParaRPr lang="en-US" alt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591143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68260" y="1137948"/>
            <a:ext cx="5934317" cy="646331"/>
          </a:xfrm>
          <a:prstGeom prst="rect">
            <a:avLst/>
          </a:prstGeom>
        </p:spPr>
        <p:txBody>
          <a:bodyPr wrap="none">
            <a:spAutoFit/>
          </a:bodyPr>
          <a:lstStyle/>
          <a:p>
            <a:r>
              <a:rPr lang="en-US" sz="3600" b="1" dirty="0">
                <a:solidFill>
                  <a:srgbClr val="E6E8F0"/>
                </a:solidFill>
                <a:latin typeface="Times New Roman" panose="02020603050405020304" pitchFamily="18" charset="0"/>
                <a:cs typeface="Times New Roman" panose="02020603050405020304" pitchFamily="18" charset="0"/>
              </a:rPr>
              <a:t>3. </a:t>
            </a:r>
            <a:r>
              <a:rPr lang="en-US" sz="3600" b="1" dirty="0" err="1">
                <a:solidFill>
                  <a:srgbClr val="E6E8F0"/>
                </a:solidFill>
                <a:latin typeface="Times New Roman" panose="02020603050405020304" pitchFamily="18" charset="0"/>
                <a:cs typeface="Times New Roman" panose="02020603050405020304" pitchFamily="18" charset="0"/>
              </a:rPr>
              <a:t>Platykurtic</a:t>
            </a:r>
            <a:r>
              <a:rPr lang="en-US" sz="3600" b="1" dirty="0">
                <a:solidFill>
                  <a:srgbClr val="E6E8F0"/>
                </a:solidFill>
                <a:latin typeface="Times New Roman" panose="02020603050405020304" pitchFamily="18" charset="0"/>
                <a:cs typeface="Times New Roman" panose="02020603050405020304" pitchFamily="18" charset="0"/>
              </a:rPr>
              <a:t> (Flat &amp; Broad)</a:t>
            </a:r>
            <a:endParaRPr lang="en-US" sz="36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832757" y="3083547"/>
            <a:ext cx="13422086" cy="2862322"/>
          </a:xfrm>
          <a:prstGeom prst="rect">
            <a:avLst/>
          </a:prstGeom>
          <a:noFill/>
        </p:spPr>
        <p:txBody>
          <a:bodyPr wrap="square" rtlCol="0">
            <a:spAutoFit/>
          </a:bodyPr>
          <a:lstStyle/>
          <a:p>
            <a:pPr lvl="0" algn="just" defTabSz="914400"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The name comes from </a:t>
            </a:r>
            <a:r>
              <a:rPr lang="en-US" altLang="en-US" sz="2400" i="1" dirty="0">
                <a:latin typeface="Times New Roman" panose="02020603050405020304" pitchFamily="18" charset="0"/>
                <a:cs typeface="Times New Roman" panose="02020603050405020304" pitchFamily="18" charset="0"/>
              </a:rPr>
              <a:t>platy</a:t>
            </a:r>
            <a:r>
              <a:rPr lang="en-US" altLang="en-US" sz="2400" dirty="0">
                <a:latin typeface="Times New Roman" panose="02020603050405020304" pitchFamily="18" charset="0"/>
                <a:cs typeface="Times New Roman" panose="02020603050405020304" pitchFamily="18" charset="0"/>
              </a:rPr>
              <a:t>, meaning "broad" or "flat" (like a platypus's bill).</a:t>
            </a:r>
          </a:p>
          <a:p>
            <a:pPr lvl="0" algn="just" defTabSz="91440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Shape:</a:t>
            </a:r>
            <a:r>
              <a:rPr lang="en-US" altLang="en-US" sz="2400" dirty="0">
                <a:latin typeface="Times New Roman" panose="02020603050405020304" pitchFamily="18" charset="0"/>
                <a:cs typeface="Times New Roman" panose="02020603050405020304" pitchFamily="18" charset="0"/>
              </a:rPr>
              <a:t> A low, flat peak with </a:t>
            </a:r>
            <a:r>
              <a:rPr lang="en-US" altLang="en-US" sz="2400" b="1" dirty="0">
                <a:latin typeface="Times New Roman" panose="02020603050405020304" pitchFamily="18" charset="0"/>
                <a:cs typeface="Times New Roman" panose="02020603050405020304" pitchFamily="18" charset="0"/>
              </a:rPr>
              <a:t>thin, light tails</a:t>
            </a:r>
            <a:r>
              <a:rPr lang="en-US" altLang="en-US" sz="2400" dirty="0">
                <a:latin typeface="Times New Roman" panose="02020603050405020304" pitchFamily="18" charset="0"/>
                <a:cs typeface="Times New Roman" panose="02020603050405020304" pitchFamily="18" charset="0"/>
              </a:rPr>
              <a:t>. The data is spread more uniformly.</a:t>
            </a:r>
          </a:p>
          <a:p>
            <a:pPr lvl="0" algn="just" defTabSz="91440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Excess Kurtosis:</a:t>
            </a:r>
            <a:r>
              <a:rPr lang="en-US" altLang="en-US" sz="2400" dirty="0">
                <a:latin typeface="Times New Roman" panose="02020603050405020304" pitchFamily="18" charset="0"/>
                <a:cs typeface="Times New Roman" panose="02020603050405020304" pitchFamily="18" charset="0"/>
              </a:rPr>
              <a:t> Negative (&lt; 0).</a:t>
            </a:r>
          </a:p>
          <a:p>
            <a:pPr lvl="0" algn="just" defTabSz="91440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AI Context:</a:t>
            </a:r>
            <a:r>
              <a:rPr lang="en-US" altLang="en-US" sz="2400" dirty="0">
                <a:latin typeface="Times New Roman" panose="02020603050405020304" pitchFamily="18" charset="0"/>
                <a:cs typeface="Times New Roman" panose="02020603050405020304" pitchFamily="18" charset="0"/>
              </a:rPr>
              <a:t> This indicates a lack of outliers. While "stable," it can sometimes mean the data lacks the "interesting" variance a model needs to learn distinct boundaries between classes</a:t>
            </a:r>
            <a:endParaRPr lang="en-US" sz="2400" dirty="0">
              <a:latin typeface="Times New Roman" panose="02020603050405020304" pitchFamily="18" charset="0"/>
              <a:cs typeface="Times New Roman" panose="02020603050405020304" pitchFamily="18" charset="0"/>
            </a:endParaRPr>
          </a:p>
        </p:txBody>
      </p:sp>
      <p:sp>
        <p:nvSpPr>
          <p:cNvPr id="7" name="Rectangle 3"/>
          <p:cNvSpPr>
            <a:spLocks noChangeArrowheads="1"/>
          </p:cNvSpPr>
          <p:nvPr/>
        </p:nvSpPr>
        <p:spPr bwMode="auto">
          <a:xfrm>
            <a:off x="0" y="-230832"/>
            <a:ext cx="43282" cy="461665"/>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E6E8F0"/>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6803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981965" y="4073761"/>
            <a:ext cx="4353539" cy="873620"/>
          </a:xfrm>
          <a:prstGeom prst="rect">
            <a:avLst/>
          </a:prstGeom>
        </p:spPr>
      </p:pic>
      <p:sp>
        <p:nvSpPr>
          <p:cNvPr id="3" name="Rectangle 2"/>
          <p:cNvSpPr/>
          <p:nvPr/>
        </p:nvSpPr>
        <p:spPr>
          <a:xfrm>
            <a:off x="1706965" y="1154277"/>
            <a:ext cx="5928161" cy="523220"/>
          </a:xfrm>
          <a:prstGeom prst="rect">
            <a:avLst/>
          </a:prstGeom>
        </p:spPr>
        <p:txBody>
          <a:bodyPr wrap="none">
            <a:spAutoFit/>
          </a:bodyPr>
          <a:lstStyle/>
          <a:p>
            <a:r>
              <a:rPr lang="en-US" sz="2800" dirty="0">
                <a:solidFill>
                  <a:schemeClr val="bg1"/>
                </a:solidFill>
                <a:latin typeface="Times New Roman" panose="02020603050405020304" pitchFamily="18" charset="0"/>
                <a:cs typeface="Times New Roman" panose="02020603050405020304" pitchFamily="18" charset="0"/>
              </a:rPr>
              <a:t>How to measure </a:t>
            </a:r>
            <a:r>
              <a:rPr lang="en-US" sz="2800" dirty="0" smtClean="0">
                <a:solidFill>
                  <a:schemeClr val="bg1"/>
                </a:solidFill>
                <a:latin typeface="Times New Roman" panose="02020603050405020304" pitchFamily="18" charset="0"/>
                <a:cs typeface="Times New Roman" panose="02020603050405020304" pitchFamily="18" charset="0"/>
              </a:rPr>
              <a:t>Coefficient of Kurtosis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1311994" y="3478719"/>
            <a:ext cx="7315200" cy="830997"/>
          </a:xfrm>
          <a:prstGeom prst="rect">
            <a:avLst/>
          </a:prstGeom>
        </p:spPr>
        <p:txBody>
          <a:bodyPr>
            <a:spAutoFit/>
          </a:bodyPr>
          <a:lstStyle/>
          <a:p>
            <a:r>
              <a:rPr lang="en-US" sz="2400" dirty="0" err="1">
                <a:latin typeface="Times New Roman" panose="02020603050405020304" pitchFamily="18" charset="0"/>
                <a:cs typeface="Times New Roman" panose="02020603050405020304" pitchFamily="18" charset="0"/>
              </a:rPr>
              <a:t>Bowley’s</a:t>
            </a:r>
            <a:r>
              <a:rPr lang="en-US" sz="2400" dirty="0">
                <a:latin typeface="Times New Roman" panose="02020603050405020304" pitchFamily="18" charset="0"/>
                <a:cs typeface="Times New Roman" panose="02020603050405020304" pitchFamily="18" charset="0"/>
              </a:rPr>
              <a:t> Coefficient of Kurtosis, often called the Percentile Coefficient of Kurtosis</a:t>
            </a:r>
          </a:p>
        </p:txBody>
      </p:sp>
      <p:sp>
        <p:nvSpPr>
          <p:cNvPr id="5" name="Rectangle 4"/>
          <p:cNvSpPr/>
          <p:nvPr/>
        </p:nvSpPr>
        <p:spPr>
          <a:xfrm>
            <a:off x="1197694" y="5084861"/>
            <a:ext cx="12028449" cy="1477328"/>
          </a:xfrm>
          <a:prstGeom prst="rect">
            <a:avLst/>
          </a:prstGeom>
        </p:spPr>
        <p:txBody>
          <a:bodyPr wrap="square">
            <a:spAutoFit/>
          </a:bodyPr>
          <a:lstStyle/>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Interpretation:</a:t>
            </a:r>
            <a:r>
              <a:rPr lang="en-US" sz="2000" dirty="0">
                <a:latin typeface="Times New Roman" panose="02020603050405020304" pitchFamily="18" charset="0"/>
                <a:cs typeface="Times New Roman" panose="02020603050405020304" pitchFamily="18" charset="0"/>
              </a:rPr>
              <a:t> A value of roughly 0.263 indicates a Normal (</a:t>
            </a:r>
            <a:r>
              <a:rPr lang="en-US" sz="2000" dirty="0" err="1">
                <a:latin typeface="Times New Roman" panose="02020603050405020304" pitchFamily="18" charset="0"/>
                <a:cs typeface="Times New Roman" panose="02020603050405020304" pitchFamily="18" charset="0"/>
              </a:rPr>
              <a:t>Mesokurtic</a:t>
            </a:r>
            <a:r>
              <a:rPr lang="en-US" sz="2000" dirty="0">
                <a:latin typeface="Times New Roman" panose="02020603050405020304" pitchFamily="18" charset="0"/>
                <a:cs typeface="Times New Roman" panose="02020603050405020304" pitchFamily="18" charset="0"/>
              </a:rPr>
              <a:t>) distribution.</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Tail Behavior:</a:t>
            </a:r>
            <a:r>
              <a:rPr lang="en-US" sz="2000" dirty="0">
                <a:latin typeface="Times New Roman" panose="02020603050405020304" pitchFamily="18" charset="0"/>
                <a:cs typeface="Times New Roman" panose="02020603050405020304" pitchFamily="18" charset="0"/>
              </a:rPr>
              <a:t> A higher value generally indicates a more peaked distribution with thinner tails (Leptokurtic), while a lower value indicates a flatter distribution with heavier tails (</a:t>
            </a:r>
            <a:r>
              <a:rPr lang="en-US" sz="2000" dirty="0" err="1">
                <a:latin typeface="Times New Roman" panose="02020603050405020304" pitchFamily="18" charset="0"/>
                <a:cs typeface="Times New Roman" panose="02020603050405020304" pitchFamily="18" charset="0"/>
              </a:rPr>
              <a:t>Platykurtic</a:t>
            </a:r>
            <a:r>
              <a:rPr lang="en-US" sz="2000" dirty="0">
                <a:latin typeface="Times New Roman" panose="02020603050405020304" pitchFamily="18" charset="0"/>
                <a:cs typeface="Times New Roman" panose="02020603050405020304" pitchFamily="18" charset="0"/>
              </a:rPr>
              <a:t>).</a:t>
            </a:r>
            <a:endParaRPr lang="en-US"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62842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6453" y="1252248"/>
            <a:ext cx="6988836" cy="523220"/>
          </a:xfrm>
          <a:prstGeom prst="rect">
            <a:avLst/>
          </a:prstGeom>
        </p:spPr>
        <p:txBody>
          <a:bodyPr wrap="none">
            <a:spAutoFit/>
          </a:bodyPr>
          <a:lstStyle/>
          <a:p>
            <a:r>
              <a:rPr lang="en-US" sz="2800" dirty="0">
                <a:solidFill>
                  <a:schemeClr val="bg1"/>
                </a:solidFill>
                <a:latin typeface="Times New Roman" panose="02020603050405020304" pitchFamily="18" charset="0"/>
                <a:cs typeface="Times New Roman" panose="02020603050405020304" pitchFamily="18" charset="0"/>
              </a:rPr>
              <a:t>Small Case Study: Assessing the Shape of Data</a:t>
            </a:r>
          </a:p>
        </p:txBody>
      </p:sp>
      <p:sp>
        <p:nvSpPr>
          <p:cNvPr id="3" name="Rectangle 2"/>
          <p:cNvSpPr/>
          <p:nvPr/>
        </p:nvSpPr>
        <p:spPr>
          <a:xfrm>
            <a:off x="1063271" y="2731451"/>
            <a:ext cx="12979300" cy="2169825"/>
          </a:xfrm>
          <a:prstGeom prst="rect">
            <a:avLst/>
          </a:prstGeom>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Background</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A data analyst in a university wants to study the </a:t>
            </a:r>
            <a:r>
              <a:rPr lang="en-US" b="1" dirty="0">
                <a:latin typeface="Times New Roman" panose="02020603050405020304" pitchFamily="18" charset="0"/>
                <a:cs typeface="Times New Roman" panose="02020603050405020304" pitchFamily="18" charset="0"/>
              </a:rPr>
              <a:t>distribution of final exam scores</a:t>
            </a:r>
            <a:r>
              <a:rPr lang="en-US" dirty="0">
                <a:latin typeface="Times New Roman" panose="02020603050405020304" pitchFamily="18" charset="0"/>
                <a:cs typeface="Times New Roman" panose="02020603050405020304" pitchFamily="18" charset="0"/>
              </a:rPr>
              <a:t> of students enrolled in a </a:t>
            </a:r>
            <a:r>
              <a:rPr lang="en-US" b="1" dirty="0">
                <a:latin typeface="Times New Roman" panose="02020603050405020304" pitchFamily="18" charset="0"/>
                <a:cs typeface="Times New Roman" panose="02020603050405020304" pitchFamily="18" charset="0"/>
              </a:rPr>
              <a:t>BS Artificial Intelligence course</a:t>
            </a:r>
            <a:r>
              <a:rPr lang="en-US" dirty="0">
                <a:latin typeface="Times New Roman" panose="02020603050405020304" pitchFamily="18" charset="0"/>
                <a:cs typeface="Times New Roman" panose="02020603050405020304" pitchFamily="18" charset="0"/>
              </a:rPr>
              <a:t>. The aim is to understand whether the scores are </a:t>
            </a:r>
            <a:r>
              <a:rPr lang="en-US" b="1" dirty="0">
                <a:latin typeface="Times New Roman" panose="02020603050405020304" pitchFamily="18" charset="0"/>
                <a:cs typeface="Times New Roman" panose="02020603050405020304" pitchFamily="18" charset="0"/>
              </a:rPr>
              <a:t>symmetrical, skewed, or highly peaked/flat</a:t>
            </a:r>
            <a:r>
              <a:rPr lang="en-US" dirty="0">
                <a:latin typeface="Times New Roman" panose="02020603050405020304" pitchFamily="18" charset="0"/>
                <a:cs typeface="Times New Roman" panose="02020603050405020304" pitchFamily="18" charset="0"/>
              </a:rPr>
              <a:t>. To do this, the analyst calculates </a:t>
            </a:r>
            <a:r>
              <a:rPr lang="en-US" b="1" dirty="0">
                <a:latin typeface="Times New Roman" panose="02020603050405020304" pitchFamily="18" charset="0"/>
                <a:cs typeface="Times New Roman" panose="02020603050405020304" pitchFamily="18" charset="0"/>
              </a:rPr>
              <a:t>skewness and kurtosis measures</a:t>
            </a:r>
            <a:r>
              <a:rPr lang="en-US" dirty="0" smtClean="0">
                <a:latin typeface="Times New Roman" panose="02020603050405020304" pitchFamily="18" charset="0"/>
                <a:cs typeface="Times New Roman" panose="02020603050405020304" pitchFamily="18" charset="0"/>
              </a:rPr>
              <a:t>.</a:t>
            </a:r>
          </a:p>
          <a:p>
            <a:pPr>
              <a:lnSpc>
                <a:spcPct val="150000"/>
              </a:lnSpc>
            </a:pPr>
            <a:endParaRPr lang="en-US"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005241046"/>
              </p:ext>
            </p:extLst>
          </p:nvPr>
        </p:nvGraphicFramePr>
        <p:xfrm>
          <a:off x="4453830" y="5321617"/>
          <a:ext cx="5620900" cy="2523744"/>
        </p:xfrm>
        <a:graphic>
          <a:graphicData uri="http://schemas.openxmlformats.org/drawingml/2006/table">
            <a:tbl>
              <a:tblPr>
                <a:tableStyleId>{284E427A-3D55-4303-BF80-6455036E1DE7}</a:tableStyleId>
              </a:tblPr>
              <a:tblGrid>
                <a:gridCol w="2810450">
                  <a:extLst>
                    <a:ext uri="{9D8B030D-6E8A-4147-A177-3AD203B41FA5}">
                      <a16:colId xmlns:a16="http://schemas.microsoft.com/office/drawing/2014/main" val="292184569"/>
                    </a:ext>
                  </a:extLst>
                </a:gridCol>
                <a:gridCol w="2810450">
                  <a:extLst>
                    <a:ext uri="{9D8B030D-6E8A-4147-A177-3AD203B41FA5}">
                      <a16:colId xmlns:a16="http://schemas.microsoft.com/office/drawing/2014/main" val="1592711912"/>
                    </a:ext>
                  </a:extLst>
                </a:gridCol>
              </a:tblGrid>
              <a:tr h="0">
                <a:tc>
                  <a:txBody>
                    <a:bodyPr/>
                    <a:lstStyle/>
                    <a:p>
                      <a:r>
                        <a:rPr lang="en-US"/>
                        <a:t>Statistic</a:t>
                      </a:r>
                    </a:p>
                  </a:txBody>
                  <a:tcPr anchor="ctr"/>
                </a:tc>
                <a:tc>
                  <a:txBody>
                    <a:bodyPr/>
                    <a:lstStyle/>
                    <a:p>
                      <a:r>
                        <a:rPr lang="en-US"/>
                        <a:t>Value</a:t>
                      </a:r>
                    </a:p>
                  </a:txBody>
                  <a:tcPr anchor="ctr"/>
                </a:tc>
                <a:extLst>
                  <a:ext uri="{0D108BD9-81ED-4DB2-BD59-A6C34878D82A}">
                    <a16:rowId xmlns:a16="http://schemas.microsoft.com/office/drawing/2014/main" val="4122286309"/>
                  </a:ext>
                </a:extLst>
              </a:tr>
              <a:tr h="0">
                <a:tc>
                  <a:txBody>
                    <a:bodyPr/>
                    <a:lstStyle/>
                    <a:p>
                      <a:r>
                        <a:rPr lang="en-US"/>
                        <a:t>Mean</a:t>
                      </a:r>
                    </a:p>
                  </a:txBody>
                  <a:tcPr anchor="ctr"/>
                </a:tc>
                <a:tc>
                  <a:txBody>
                    <a:bodyPr/>
                    <a:lstStyle/>
                    <a:p>
                      <a:r>
                        <a:rPr lang="en-US"/>
                        <a:t>74</a:t>
                      </a:r>
                    </a:p>
                  </a:txBody>
                  <a:tcPr anchor="ctr"/>
                </a:tc>
                <a:extLst>
                  <a:ext uri="{0D108BD9-81ED-4DB2-BD59-A6C34878D82A}">
                    <a16:rowId xmlns:a16="http://schemas.microsoft.com/office/drawing/2014/main" val="1451016989"/>
                  </a:ext>
                </a:extLst>
              </a:tr>
              <a:tr h="0">
                <a:tc>
                  <a:txBody>
                    <a:bodyPr/>
                    <a:lstStyle/>
                    <a:p>
                      <a:r>
                        <a:rPr lang="en-US"/>
                        <a:t>Median</a:t>
                      </a:r>
                    </a:p>
                  </a:txBody>
                  <a:tcPr anchor="ctr"/>
                </a:tc>
                <a:tc>
                  <a:txBody>
                    <a:bodyPr/>
                    <a:lstStyle/>
                    <a:p>
                      <a:r>
                        <a:rPr lang="en-US"/>
                        <a:t>70</a:t>
                      </a:r>
                    </a:p>
                  </a:txBody>
                  <a:tcPr anchor="ctr"/>
                </a:tc>
                <a:extLst>
                  <a:ext uri="{0D108BD9-81ED-4DB2-BD59-A6C34878D82A}">
                    <a16:rowId xmlns:a16="http://schemas.microsoft.com/office/drawing/2014/main" val="3069791866"/>
                  </a:ext>
                </a:extLst>
              </a:tr>
              <a:tr h="0">
                <a:tc>
                  <a:txBody>
                    <a:bodyPr/>
                    <a:lstStyle/>
                    <a:p>
                      <a:r>
                        <a:rPr lang="en-US"/>
                        <a:t>Mode</a:t>
                      </a:r>
                    </a:p>
                  </a:txBody>
                  <a:tcPr anchor="ctr"/>
                </a:tc>
                <a:tc>
                  <a:txBody>
                    <a:bodyPr/>
                    <a:lstStyle/>
                    <a:p>
                      <a:r>
                        <a:rPr lang="en-US"/>
                        <a:t>65</a:t>
                      </a:r>
                    </a:p>
                  </a:txBody>
                  <a:tcPr anchor="ctr"/>
                </a:tc>
                <a:extLst>
                  <a:ext uri="{0D108BD9-81ED-4DB2-BD59-A6C34878D82A}">
                    <a16:rowId xmlns:a16="http://schemas.microsoft.com/office/drawing/2014/main" val="2528979791"/>
                  </a:ext>
                </a:extLst>
              </a:tr>
              <a:tr h="0">
                <a:tc>
                  <a:txBody>
                    <a:bodyPr/>
                    <a:lstStyle/>
                    <a:p>
                      <a:r>
                        <a:rPr lang="en-US"/>
                        <a:t>Standard Deviation</a:t>
                      </a:r>
                    </a:p>
                  </a:txBody>
                  <a:tcPr anchor="ctr"/>
                </a:tc>
                <a:tc>
                  <a:txBody>
                    <a:bodyPr/>
                    <a:lstStyle/>
                    <a:p>
                      <a:r>
                        <a:rPr lang="en-US"/>
                        <a:t>10</a:t>
                      </a:r>
                    </a:p>
                  </a:txBody>
                  <a:tcPr anchor="ctr"/>
                </a:tc>
                <a:extLst>
                  <a:ext uri="{0D108BD9-81ED-4DB2-BD59-A6C34878D82A}">
                    <a16:rowId xmlns:a16="http://schemas.microsoft.com/office/drawing/2014/main" val="2063646087"/>
                  </a:ext>
                </a:extLst>
              </a:tr>
              <a:tr h="0">
                <a:tc>
                  <a:txBody>
                    <a:bodyPr/>
                    <a:lstStyle/>
                    <a:p>
                      <a:r>
                        <a:rPr lang="en-US"/>
                        <a:t>Kurtosis</a:t>
                      </a:r>
                    </a:p>
                  </a:txBody>
                  <a:tcPr anchor="ctr"/>
                </a:tc>
                <a:tc>
                  <a:txBody>
                    <a:bodyPr/>
                    <a:lstStyle/>
                    <a:p>
                      <a:r>
                        <a:rPr lang="en-US" dirty="0"/>
                        <a:t>3.8</a:t>
                      </a:r>
                    </a:p>
                  </a:txBody>
                  <a:tcPr anchor="ctr"/>
                </a:tc>
                <a:extLst>
                  <a:ext uri="{0D108BD9-81ED-4DB2-BD59-A6C34878D82A}">
                    <a16:rowId xmlns:a16="http://schemas.microsoft.com/office/drawing/2014/main" val="2744959457"/>
                  </a:ext>
                </a:extLst>
              </a:tr>
            </a:tbl>
          </a:graphicData>
        </a:graphic>
      </p:graphicFrame>
      <p:sp>
        <p:nvSpPr>
          <p:cNvPr id="5" name="Rectangle 1"/>
          <p:cNvSpPr>
            <a:spLocks noChangeArrowheads="1"/>
          </p:cNvSpPr>
          <p:nvPr/>
        </p:nvSpPr>
        <p:spPr bwMode="auto">
          <a:xfrm>
            <a:off x="1063271" y="4444454"/>
            <a:ext cx="9939546"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Arial" panose="020B0604020202020204" pitchFamily="34" charset="0"/>
              </a:rPr>
              <a:t>Collected Data (Summary Statistics)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After analyzing the scores of </a:t>
            </a:r>
            <a:r>
              <a:rPr kumimoji="0" lang="en-US" altLang="en-US" sz="1800" b="1" i="0" u="none" strike="noStrike" cap="none" normalizeH="0" baseline="0" dirty="0" smtClean="0">
                <a:ln>
                  <a:noFill/>
                </a:ln>
                <a:solidFill>
                  <a:schemeClr val="tx1"/>
                </a:solidFill>
                <a:effectLst/>
                <a:latin typeface="Arial" panose="020B0604020202020204" pitchFamily="34" charset="0"/>
              </a:rPr>
              <a:t>120 students</a:t>
            </a:r>
            <a:r>
              <a:rPr kumimoji="0" lang="en-US" altLang="en-US" sz="1800" b="0" i="0" u="none" strike="noStrike" cap="none" normalizeH="0" baseline="0" dirty="0" smtClean="0">
                <a:ln>
                  <a:noFill/>
                </a:ln>
                <a:solidFill>
                  <a:schemeClr val="tx1"/>
                </a:solidFill>
                <a:effectLst/>
                <a:latin typeface="Arial" panose="020B0604020202020204" pitchFamily="34" charset="0"/>
              </a:rPr>
              <a:t>, the following statistics were obtained: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5652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89957" y="1137948"/>
            <a:ext cx="11478986" cy="646331"/>
          </a:xfrm>
          <a:prstGeom prst="rect">
            <a:avLst/>
          </a:prstGeom>
          <a:noFill/>
        </p:spPr>
        <p:txBody>
          <a:bodyPr wrap="square" rtlCol="0">
            <a:spAutoFit/>
          </a:bodyPr>
          <a:lstStyle/>
          <a:p>
            <a:r>
              <a:rPr lang="en-US" sz="3600" dirty="0" smtClean="0">
                <a:solidFill>
                  <a:schemeClr val="bg1"/>
                </a:solidFill>
              </a:rPr>
              <a:t>Practice Questions</a:t>
            </a:r>
            <a:endParaRPr lang="en-US" sz="3600" dirty="0">
              <a:solidFill>
                <a:schemeClr val="bg1"/>
              </a:solidFill>
            </a:endParaRPr>
          </a:p>
        </p:txBody>
      </p:sp>
      <p:sp>
        <p:nvSpPr>
          <p:cNvPr id="3" name="Rectangle 2"/>
          <p:cNvSpPr/>
          <p:nvPr/>
        </p:nvSpPr>
        <p:spPr>
          <a:xfrm>
            <a:off x="1289957" y="2775857"/>
            <a:ext cx="9682843" cy="5262979"/>
          </a:xfrm>
          <a:prstGeom prst="rect">
            <a:avLst/>
          </a:prstGeom>
        </p:spPr>
        <p:txBody>
          <a:bodyPr wrap="square">
            <a:spAutoFit/>
          </a:bodyPr>
          <a:lstStyle/>
          <a:p>
            <a:r>
              <a:rPr lang="en-US" sz="2000" b="1" dirty="0" smtClean="0"/>
              <a:t>Question </a:t>
            </a:r>
            <a:r>
              <a:rPr lang="en-US" sz="2000" b="1" dirty="0"/>
              <a:t>1</a:t>
            </a:r>
            <a:endParaRPr lang="en-US" sz="2000" dirty="0"/>
          </a:p>
          <a:p>
            <a:r>
              <a:rPr lang="en-US" sz="2000" dirty="0"/>
              <a:t>The following statistics are given:</a:t>
            </a:r>
          </a:p>
          <a:p>
            <a:pPr>
              <a:buFont typeface="Arial" panose="020B0604020202020204" pitchFamily="34" charset="0"/>
              <a:buChar char="•"/>
            </a:pPr>
            <a:r>
              <a:rPr lang="en-US" sz="2000" dirty="0"/>
              <a:t>Mean = 58</a:t>
            </a:r>
          </a:p>
          <a:p>
            <a:pPr>
              <a:buFont typeface="Arial" panose="020B0604020202020204" pitchFamily="34" charset="0"/>
              <a:buChar char="•"/>
            </a:pPr>
            <a:r>
              <a:rPr lang="en-US" sz="2000" dirty="0"/>
              <a:t>Mode = 52</a:t>
            </a:r>
          </a:p>
          <a:p>
            <a:pPr>
              <a:buFont typeface="Arial" panose="020B0604020202020204" pitchFamily="34" charset="0"/>
              <a:buChar char="•"/>
            </a:pPr>
            <a:r>
              <a:rPr lang="en-US" sz="2000" dirty="0"/>
              <a:t>Standard Deviation = 12</a:t>
            </a:r>
          </a:p>
          <a:p>
            <a:r>
              <a:rPr lang="en-US" sz="2000" dirty="0"/>
              <a:t>Find the </a:t>
            </a:r>
            <a:r>
              <a:rPr lang="en-US" sz="2000" b="1" dirty="0"/>
              <a:t>Coefficient of Skewness</a:t>
            </a:r>
            <a:r>
              <a:rPr lang="en-US" dirty="0" smtClean="0"/>
              <a:t>.</a:t>
            </a:r>
          </a:p>
          <a:p>
            <a:endParaRPr lang="en-US" dirty="0"/>
          </a:p>
          <a:p>
            <a:endParaRPr lang="en-US" dirty="0" smtClean="0"/>
          </a:p>
          <a:p>
            <a:r>
              <a:rPr lang="en-US" b="1" dirty="0"/>
              <a:t>Question 2</a:t>
            </a:r>
            <a:endParaRPr lang="en-US" dirty="0"/>
          </a:p>
          <a:p>
            <a:r>
              <a:rPr lang="en-US" dirty="0"/>
              <a:t>Given:</a:t>
            </a:r>
          </a:p>
          <a:p>
            <a:r>
              <a:rPr lang="en-US" dirty="0"/>
              <a:t>Mean = 72</a:t>
            </a:r>
          </a:p>
          <a:p>
            <a:r>
              <a:rPr lang="en-US" dirty="0"/>
              <a:t>Median = 68</a:t>
            </a:r>
          </a:p>
          <a:p>
            <a:r>
              <a:rPr lang="en-US" dirty="0"/>
              <a:t>Standard Deviation = 10</a:t>
            </a:r>
          </a:p>
          <a:p>
            <a:r>
              <a:rPr lang="en-US" dirty="0"/>
              <a:t>Calculate the </a:t>
            </a:r>
            <a:r>
              <a:rPr lang="en-US" b="1" dirty="0"/>
              <a:t>Coefficient of Skewness</a:t>
            </a:r>
            <a:r>
              <a:rPr lang="en-US" dirty="0"/>
              <a:t>.</a:t>
            </a:r>
          </a:p>
          <a:p>
            <a:endParaRPr lang="en-US" dirty="0" smtClean="0"/>
          </a:p>
          <a:p>
            <a:r>
              <a:rPr lang="en-US" dirty="0" smtClean="0"/>
              <a:t>Use</a:t>
            </a:r>
            <a:r>
              <a:rPr lang="en-US" dirty="0"/>
              <a:t>:</a:t>
            </a:r>
          </a:p>
          <a:p>
            <a:endParaRPr lang="en-US" dirty="0" smtClean="0"/>
          </a:p>
          <a:p>
            <a:r>
              <a:rPr lang="en-US" dirty="0" err="1" smtClean="0"/>
              <a:t>Sk</a:t>
            </a:r>
            <a:r>
              <a:rPr lang="en-US" dirty="0" smtClean="0"/>
              <a:t>=(Mean−Mode)/Standard</a:t>
            </a:r>
            <a:r>
              <a:rPr lang="en-US" dirty="0"/>
              <a:t> Deviation</a:t>
            </a:r>
          </a:p>
        </p:txBody>
      </p:sp>
    </p:spTree>
    <p:extLst>
      <p:ext uri="{BB962C8B-B14F-4D97-AF65-F5344CB8AC3E}">
        <p14:creationId xmlns:p14="http://schemas.microsoft.com/office/powerpoint/2010/main" val="19607436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2637472"/>
            <a:ext cx="7315200" cy="3416320"/>
          </a:xfrm>
          <a:prstGeom prst="rect">
            <a:avLst/>
          </a:prstGeom>
        </p:spPr>
        <p:txBody>
          <a:bodyPr>
            <a:spAutoFit/>
          </a:bodyPr>
          <a:lstStyle/>
          <a:p>
            <a:pPr>
              <a:lnSpc>
                <a:spcPct val="150000"/>
              </a:lnSpc>
            </a:pPr>
            <a:r>
              <a:rPr lang="en-US" sz="2400" dirty="0">
                <a:latin typeface="Times New Roman" panose="02020603050405020304" pitchFamily="18" charset="0"/>
                <a:cs typeface="Times New Roman" panose="02020603050405020304" pitchFamily="18" charset="0"/>
              </a:rPr>
              <a:t>The quartiles of a distribution are:</a:t>
            </a:r>
          </a:p>
          <a:p>
            <a:pPr>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Q1=20</a:t>
            </a:r>
          </a:p>
          <a:p>
            <a:pPr>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Q2=25</a:t>
            </a:r>
          </a:p>
          <a:p>
            <a:pPr>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Q3=32</a:t>
            </a:r>
          </a:p>
          <a:p>
            <a:pPr>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Calculate </a:t>
            </a:r>
            <a:r>
              <a:rPr lang="en-US" sz="2400" b="1" dirty="0" err="1">
                <a:latin typeface="Times New Roman" panose="02020603050405020304" pitchFamily="18" charset="0"/>
                <a:cs typeface="Times New Roman" panose="02020603050405020304" pitchFamily="18" charset="0"/>
              </a:rPr>
              <a:t>Bowley’s</a:t>
            </a:r>
            <a:r>
              <a:rPr lang="en-US" sz="2400" b="1" dirty="0">
                <a:latin typeface="Times New Roman" panose="02020603050405020304" pitchFamily="18" charset="0"/>
                <a:cs typeface="Times New Roman" panose="02020603050405020304" pitchFamily="18" charset="0"/>
              </a:rPr>
              <a:t> coefficient of </a:t>
            </a:r>
            <a:r>
              <a:rPr lang="en-US" sz="2400" b="1" dirty="0" err="1" smtClean="0">
                <a:latin typeface="Times New Roman" panose="02020603050405020304" pitchFamily="18" charset="0"/>
                <a:cs typeface="Times New Roman" panose="02020603050405020304" pitchFamily="18" charset="0"/>
              </a:rPr>
              <a:t>skewness</a:t>
            </a:r>
            <a:r>
              <a:rPr lang="en-US" sz="2400" dirty="0" err="1" smtClean="0">
                <a:latin typeface="Times New Roman" panose="02020603050405020304" pitchFamily="18" charset="0"/>
                <a:cs typeface="Times New Roman" panose="02020603050405020304" pitchFamily="18" charset="0"/>
              </a:rPr>
              <a:t>.and</a:t>
            </a:r>
            <a:r>
              <a:rPr lang="en-US" sz="2400" dirty="0" smtClean="0">
                <a:latin typeface="Times New Roman" panose="02020603050405020304" pitchFamily="18" charset="0"/>
                <a:cs typeface="Times New Roman" panose="02020603050405020304" pitchFamily="18" charset="0"/>
              </a:rPr>
              <a:t> comment on the shape of the distribution</a:t>
            </a:r>
            <a:endParaRPr lang="en-US" sz="2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289957" y="1137948"/>
            <a:ext cx="11478986" cy="646331"/>
          </a:xfrm>
          <a:prstGeom prst="rect">
            <a:avLst/>
          </a:prstGeom>
          <a:noFill/>
        </p:spPr>
        <p:txBody>
          <a:bodyPr wrap="square" rtlCol="0">
            <a:spAutoFit/>
          </a:bodyPr>
          <a:lstStyle/>
          <a:p>
            <a:r>
              <a:rPr lang="en-US" sz="3600" dirty="0" smtClean="0">
                <a:solidFill>
                  <a:schemeClr val="bg1"/>
                </a:solidFill>
              </a:rPr>
              <a:t>Practice Questions</a:t>
            </a:r>
            <a:endParaRPr lang="en-US" sz="3600" dirty="0">
              <a:solidFill>
                <a:schemeClr val="bg1"/>
              </a:solidFill>
            </a:endParaRPr>
          </a:p>
        </p:txBody>
      </p:sp>
    </p:spTree>
    <p:extLst>
      <p:ext uri="{BB962C8B-B14F-4D97-AF65-F5344CB8AC3E}">
        <p14:creationId xmlns:p14="http://schemas.microsoft.com/office/powerpoint/2010/main" val="24939579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526876942"/>
              </p:ext>
            </p:extLst>
          </p:nvPr>
        </p:nvGraphicFramePr>
        <p:xfrm>
          <a:off x="3553172" y="5025695"/>
          <a:ext cx="4732280" cy="2523744"/>
        </p:xfrm>
        <a:graphic>
          <a:graphicData uri="http://schemas.openxmlformats.org/drawingml/2006/table">
            <a:tbl>
              <a:tblPr>
                <a:tableStyleId>{3C2FFA5D-87B4-456A-9821-1D502468CF0F}</a:tableStyleId>
              </a:tblPr>
              <a:tblGrid>
                <a:gridCol w="2366140">
                  <a:extLst>
                    <a:ext uri="{9D8B030D-6E8A-4147-A177-3AD203B41FA5}">
                      <a16:colId xmlns:a16="http://schemas.microsoft.com/office/drawing/2014/main" val="2053219509"/>
                    </a:ext>
                  </a:extLst>
                </a:gridCol>
                <a:gridCol w="2366140">
                  <a:extLst>
                    <a:ext uri="{9D8B030D-6E8A-4147-A177-3AD203B41FA5}">
                      <a16:colId xmlns:a16="http://schemas.microsoft.com/office/drawing/2014/main" val="2683724571"/>
                    </a:ext>
                  </a:extLst>
                </a:gridCol>
              </a:tblGrid>
              <a:tr h="0">
                <a:tc>
                  <a:txBody>
                    <a:bodyPr/>
                    <a:lstStyle/>
                    <a:p>
                      <a:pPr algn="ctr"/>
                      <a:r>
                        <a:rPr lang="en-US"/>
                        <a:t>Marks</a:t>
                      </a:r>
                    </a:p>
                  </a:txBody>
                  <a:tcPr anchor="ctr"/>
                </a:tc>
                <a:tc>
                  <a:txBody>
                    <a:bodyPr/>
                    <a:lstStyle/>
                    <a:p>
                      <a:pPr algn="ctr"/>
                      <a:r>
                        <a:rPr lang="en-US"/>
                        <a:t>Frequency</a:t>
                      </a:r>
                    </a:p>
                  </a:txBody>
                  <a:tcPr anchor="ctr"/>
                </a:tc>
                <a:extLst>
                  <a:ext uri="{0D108BD9-81ED-4DB2-BD59-A6C34878D82A}">
                    <a16:rowId xmlns:a16="http://schemas.microsoft.com/office/drawing/2014/main" val="1968392756"/>
                  </a:ext>
                </a:extLst>
              </a:tr>
              <a:tr h="0">
                <a:tc>
                  <a:txBody>
                    <a:bodyPr/>
                    <a:lstStyle/>
                    <a:p>
                      <a:pPr algn="ctr"/>
                      <a:r>
                        <a:rPr lang="en-US"/>
                        <a:t>10–20</a:t>
                      </a:r>
                    </a:p>
                  </a:txBody>
                  <a:tcPr anchor="ctr"/>
                </a:tc>
                <a:tc>
                  <a:txBody>
                    <a:bodyPr/>
                    <a:lstStyle/>
                    <a:p>
                      <a:pPr algn="ctr"/>
                      <a:r>
                        <a:rPr lang="en-US" dirty="0"/>
                        <a:t>4</a:t>
                      </a:r>
                    </a:p>
                  </a:txBody>
                  <a:tcPr anchor="ctr"/>
                </a:tc>
                <a:extLst>
                  <a:ext uri="{0D108BD9-81ED-4DB2-BD59-A6C34878D82A}">
                    <a16:rowId xmlns:a16="http://schemas.microsoft.com/office/drawing/2014/main" val="156170743"/>
                  </a:ext>
                </a:extLst>
              </a:tr>
              <a:tr h="0">
                <a:tc>
                  <a:txBody>
                    <a:bodyPr/>
                    <a:lstStyle/>
                    <a:p>
                      <a:pPr algn="ctr"/>
                      <a:r>
                        <a:rPr lang="en-US"/>
                        <a:t>20–30</a:t>
                      </a:r>
                    </a:p>
                  </a:txBody>
                  <a:tcPr anchor="ctr"/>
                </a:tc>
                <a:tc>
                  <a:txBody>
                    <a:bodyPr/>
                    <a:lstStyle/>
                    <a:p>
                      <a:pPr algn="ctr"/>
                      <a:r>
                        <a:rPr lang="en-US"/>
                        <a:t>6</a:t>
                      </a:r>
                    </a:p>
                  </a:txBody>
                  <a:tcPr anchor="ctr"/>
                </a:tc>
                <a:extLst>
                  <a:ext uri="{0D108BD9-81ED-4DB2-BD59-A6C34878D82A}">
                    <a16:rowId xmlns:a16="http://schemas.microsoft.com/office/drawing/2014/main" val="99753704"/>
                  </a:ext>
                </a:extLst>
              </a:tr>
              <a:tr h="0">
                <a:tc>
                  <a:txBody>
                    <a:bodyPr/>
                    <a:lstStyle/>
                    <a:p>
                      <a:pPr algn="ctr"/>
                      <a:r>
                        <a:rPr lang="en-US"/>
                        <a:t>30–40</a:t>
                      </a:r>
                    </a:p>
                  </a:txBody>
                  <a:tcPr anchor="ctr"/>
                </a:tc>
                <a:tc>
                  <a:txBody>
                    <a:bodyPr/>
                    <a:lstStyle/>
                    <a:p>
                      <a:pPr algn="ctr"/>
                      <a:r>
                        <a:rPr lang="en-US"/>
                        <a:t>10</a:t>
                      </a:r>
                    </a:p>
                  </a:txBody>
                  <a:tcPr anchor="ctr"/>
                </a:tc>
                <a:extLst>
                  <a:ext uri="{0D108BD9-81ED-4DB2-BD59-A6C34878D82A}">
                    <a16:rowId xmlns:a16="http://schemas.microsoft.com/office/drawing/2014/main" val="1675669174"/>
                  </a:ext>
                </a:extLst>
              </a:tr>
              <a:tr h="0">
                <a:tc>
                  <a:txBody>
                    <a:bodyPr/>
                    <a:lstStyle/>
                    <a:p>
                      <a:pPr algn="ctr"/>
                      <a:r>
                        <a:rPr lang="en-US"/>
                        <a:t>40–50</a:t>
                      </a:r>
                    </a:p>
                  </a:txBody>
                  <a:tcPr anchor="ctr"/>
                </a:tc>
                <a:tc>
                  <a:txBody>
                    <a:bodyPr/>
                    <a:lstStyle/>
                    <a:p>
                      <a:pPr algn="ctr"/>
                      <a:r>
                        <a:rPr lang="en-US"/>
                        <a:t>8</a:t>
                      </a:r>
                    </a:p>
                  </a:txBody>
                  <a:tcPr anchor="ctr"/>
                </a:tc>
                <a:extLst>
                  <a:ext uri="{0D108BD9-81ED-4DB2-BD59-A6C34878D82A}">
                    <a16:rowId xmlns:a16="http://schemas.microsoft.com/office/drawing/2014/main" val="4150867336"/>
                  </a:ext>
                </a:extLst>
              </a:tr>
              <a:tr h="0">
                <a:tc>
                  <a:txBody>
                    <a:bodyPr/>
                    <a:lstStyle/>
                    <a:p>
                      <a:pPr algn="ctr"/>
                      <a:r>
                        <a:rPr lang="en-US"/>
                        <a:t>50–60</a:t>
                      </a:r>
                    </a:p>
                  </a:txBody>
                  <a:tcPr anchor="ctr"/>
                </a:tc>
                <a:tc>
                  <a:txBody>
                    <a:bodyPr/>
                    <a:lstStyle/>
                    <a:p>
                      <a:pPr algn="ctr"/>
                      <a:r>
                        <a:rPr lang="en-US" dirty="0"/>
                        <a:t>2</a:t>
                      </a:r>
                    </a:p>
                  </a:txBody>
                  <a:tcPr anchor="ctr"/>
                </a:tc>
                <a:extLst>
                  <a:ext uri="{0D108BD9-81ED-4DB2-BD59-A6C34878D82A}">
                    <a16:rowId xmlns:a16="http://schemas.microsoft.com/office/drawing/2014/main" val="2747247913"/>
                  </a:ext>
                </a:extLst>
              </a:tr>
            </a:tbl>
          </a:graphicData>
        </a:graphic>
      </p:graphicFrame>
      <p:sp>
        <p:nvSpPr>
          <p:cNvPr id="3" name="Rectangle 1"/>
          <p:cNvSpPr>
            <a:spLocks noChangeArrowheads="1"/>
          </p:cNvSpPr>
          <p:nvPr/>
        </p:nvSpPr>
        <p:spPr bwMode="auto">
          <a:xfrm>
            <a:off x="1166195" y="2271883"/>
            <a:ext cx="572887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Question:</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Marks of students in a statistics test are given below:</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Tasks: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smtClean="0">
                <a:ln>
                  <a:noFill/>
                </a:ln>
                <a:solidFill>
                  <a:schemeClr val="tx1"/>
                </a:solidFill>
                <a:effectLst/>
                <a:latin typeface="Arial" panose="020B0604020202020204" pitchFamily="34" charset="0"/>
              </a:rPr>
              <a:t>Find </a:t>
            </a:r>
            <a:r>
              <a:rPr kumimoji="0" lang="en-US" altLang="en-US" sz="1800" b="1" i="0" u="none" strike="noStrike" cap="none" normalizeH="0" baseline="0" dirty="0" smtClean="0">
                <a:ln>
                  <a:noFill/>
                </a:ln>
                <a:solidFill>
                  <a:schemeClr val="tx1"/>
                </a:solidFill>
                <a:effectLst/>
                <a:latin typeface="Arial" panose="020B0604020202020204" pitchFamily="34" charset="0"/>
              </a:rPr>
              <a:t>Mean</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smtClean="0">
                <a:ln>
                  <a:noFill/>
                </a:ln>
                <a:solidFill>
                  <a:schemeClr val="tx1"/>
                </a:solidFill>
                <a:effectLst/>
                <a:latin typeface="Arial" panose="020B0604020202020204" pitchFamily="34" charset="0"/>
              </a:rPr>
              <a:t>Find </a:t>
            </a:r>
            <a:r>
              <a:rPr kumimoji="0" lang="en-US" altLang="en-US" sz="1800" b="1" i="0" u="none" strike="noStrike" cap="none" normalizeH="0" baseline="0" dirty="0" smtClean="0">
                <a:ln>
                  <a:noFill/>
                </a:ln>
                <a:solidFill>
                  <a:schemeClr val="tx1"/>
                </a:solidFill>
                <a:effectLst/>
                <a:latin typeface="Arial" panose="020B0604020202020204" pitchFamily="34" charset="0"/>
              </a:rPr>
              <a:t>Mode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Calculate </a:t>
            </a:r>
            <a:r>
              <a:rPr kumimoji="0" lang="en-US" altLang="en-US" sz="1800" b="1" i="0" u="none" strike="noStrike" cap="none" normalizeH="0" baseline="0" dirty="0" smtClean="0">
                <a:ln>
                  <a:noFill/>
                </a:ln>
                <a:solidFill>
                  <a:schemeClr val="tx1"/>
                </a:solidFill>
                <a:effectLst/>
                <a:latin typeface="Arial" panose="020B0604020202020204" pitchFamily="34" charset="0"/>
              </a:rPr>
              <a:t>Karl Pearson’s Coefficient of Skewness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lang="en-US" altLang="en-US" b="1" dirty="0" smtClean="0">
                <a:latin typeface="Arial" panose="020B0604020202020204" pitchFamily="34" charset="0"/>
              </a:rPr>
              <a:t>Calculate coefficient of Kurtosis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p:nvPr/>
        </p:nvSpPr>
        <p:spPr>
          <a:xfrm>
            <a:off x="953367" y="1072634"/>
            <a:ext cx="3897221" cy="584775"/>
          </a:xfrm>
          <a:prstGeom prst="rect">
            <a:avLst/>
          </a:prstGeom>
        </p:spPr>
        <p:txBody>
          <a:bodyPr wrap="none">
            <a:spAutoFit/>
          </a:bodyPr>
          <a:lstStyle/>
          <a:p>
            <a:r>
              <a:rPr lang="en-US" sz="3200" dirty="0">
                <a:solidFill>
                  <a:schemeClr val="bg1"/>
                </a:solidFill>
              </a:rPr>
              <a:t>Practice Questions</a:t>
            </a:r>
            <a:endParaRPr lang="en-US" sz="3200" dirty="0">
              <a:solidFill>
                <a:schemeClr val="bg1"/>
              </a:solidFill>
            </a:endParaRPr>
          </a:p>
        </p:txBody>
      </p:sp>
    </p:spTree>
    <p:extLst>
      <p:ext uri="{BB962C8B-B14F-4D97-AF65-F5344CB8AC3E}">
        <p14:creationId xmlns:p14="http://schemas.microsoft.com/office/powerpoint/2010/main" val="8827846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98071" y="587829"/>
            <a:ext cx="9454243" cy="5913157"/>
          </a:xfrm>
          <a:prstGeom prst="rect">
            <a:avLst/>
          </a:prstGeom>
        </p:spPr>
        <p:txBody>
          <a:bodyPr wrap="square">
            <a:spAutoFit/>
          </a:bodyPr>
          <a:lstStyle/>
          <a:p>
            <a:pPr>
              <a:lnSpc>
                <a:spcPct val="150000"/>
              </a:lnSpc>
            </a:pPr>
            <a:r>
              <a:rPr lang="en-US" sz="3200" b="1" dirty="0">
                <a:latin typeface="Times New Roman" panose="02020603050405020304" pitchFamily="18" charset="0"/>
                <a:cs typeface="Times New Roman" panose="02020603050405020304" pitchFamily="18" charset="0"/>
              </a:rPr>
              <a:t>Step 1: Assessing Skewness</a:t>
            </a:r>
          </a:p>
          <a:p>
            <a:pPr>
              <a:lnSpc>
                <a:spcPct val="150000"/>
              </a:lnSpc>
            </a:pPr>
            <a:r>
              <a:rPr lang="en-US" sz="3200" dirty="0">
                <a:latin typeface="Times New Roman" panose="02020603050405020304" pitchFamily="18" charset="0"/>
                <a:cs typeface="Times New Roman" panose="02020603050405020304" pitchFamily="18" charset="0"/>
              </a:rPr>
              <a:t>Since:</a:t>
            </a:r>
          </a:p>
          <a:p>
            <a:pPr>
              <a:lnSpc>
                <a:spcPct val="150000"/>
              </a:lnSpc>
            </a:pPr>
            <a:r>
              <a:rPr lang="en-US" sz="3200" dirty="0">
                <a:latin typeface="Times New Roman" panose="02020603050405020304" pitchFamily="18" charset="0"/>
                <a:cs typeface="Times New Roman" panose="02020603050405020304" pitchFamily="18" charset="0"/>
              </a:rPr>
              <a:t>Mean &gt; Median &gt; Mode</a:t>
            </a:r>
          </a:p>
          <a:p>
            <a:pPr>
              <a:lnSpc>
                <a:spcPct val="150000"/>
              </a:lnSpc>
            </a:pPr>
            <a:r>
              <a:rPr lang="en-US" sz="3200" dirty="0">
                <a:latin typeface="Times New Roman" panose="02020603050405020304" pitchFamily="18" charset="0"/>
                <a:cs typeface="Times New Roman" panose="02020603050405020304" pitchFamily="18" charset="0"/>
              </a:rPr>
              <a:t>This pattern indicates a </a:t>
            </a:r>
            <a:r>
              <a:rPr lang="en-US" sz="3200" b="1" dirty="0">
                <a:latin typeface="Times New Roman" panose="02020603050405020304" pitchFamily="18" charset="0"/>
                <a:cs typeface="Times New Roman" panose="02020603050405020304" pitchFamily="18" charset="0"/>
              </a:rPr>
              <a:t>positively skewed distribution</a:t>
            </a:r>
            <a:r>
              <a:rPr lang="en-US" sz="3200" dirty="0">
                <a:latin typeface="Times New Roman" panose="02020603050405020304" pitchFamily="18" charset="0"/>
                <a:cs typeface="Times New Roman" panose="02020603050405020304" pitchFamily="18" charset="0"/>
              </a:rPr>
              <a:t> (right-skewed). It means:</a:t>
            </a:r>
          </a:p>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Most students scored </a:t>
            </a:r>
            <a:r>
              <a:rPr lang="en-US" sz="3200" b="1" dirty="0">
                <a:latin typeface="Times New Roman" panose="02020603050405020304" pitchFamily="18" charset="0"/>
                <a:cs typeface="Times New Roman" panose="02020603050405020304" pitchFamily="18" charset="0"/>
              </a:rPr>
              <a:t>around the average</a:t>
            </a:r>
            <a:endParaRPr lang="en-US" sz="32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 few students achieved </a:t>
            </a:r>
            <a:r>
              <a:rPr lang="en-US" sz="3200" b="1" dirty="0">
                <a:latin typeface="Times New Roman" panose="02020603050405020304" pitchFamily="18" charset="0"/>
                <a:cs typeface="Times New Roman" panose="02020603050405020304" pitchFamily="18" charset="0"/>
              </a:rPr>
              <a:t>very high scores</a:t>
            </a:r>
            <a:endParaRPr lang="en-US" sz="32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a:t>
            </a:r>
            <a:r>
              <a:rPr lang="en-US" sz="3200" b="1" dirty="0">
                <a:latin typeface="Times New Roman" panose="02020603050405020304" pitchFamily="18" charset="0"/>
                <a:cs typeface="Times New Roman" panose="02020603050405020304" pitchFamily="18" charset="0"/>
              </a:rPr>
              <a:t>right tail of the distribution is longer</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38064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8314" y="963386"/>
            <a:ext cx="9764486" cy="5174493"/>
          </a:xfrm>
          <a:prstGeom prst="rect">
            <a:avLst/>
          </a:prstGeom>
        </p:spPr>
        <p:txBody>
          <a:bodyPr wrap="square">
            <a:spAutoFit/>
          </a:bodyPr>
          <a:lstStyle/>
          <a:p>
            <a:pPr>
              <a:lnSpc>
                <a:spcPct val="150000"/>
              </a:lnSpc>
            </a:pPr>
            <a:r>
              <a:rPr lang="en-US" sz="3200" b="1" dirty="0">
                <a:latin typeface="Times New Roman" panose="02020603050405020304" pitchFamily="18" charset="0"/>
                <a:cs typeface="Times New Roman" panose="02020603050405020304" pitchFamily="18" charset="0"/>
              </a:rPr>
              <a:t>Step 2: Assessing Kurtosis</a:t>
            </a:r>
          </a:p>
          <a:p>
            <a:pPr>
              <a:lnSpc>
                <a:spcPct val="150000"/>
              </a:lnSpc>
            </a:pPr>
            <a:r>
              <a:rPr lang="en-US" sz="3200" dirty="0">
                <a:latin typeface="Times New Roman" panose="02020603050405020304" pitchFamily="18" charset="0"/>
                <a:cs typeface="Times New Roman" panose="02020603050405020304" pitchFamily="18" charset="0"/>
              </a:rPr>
              <a:t>The kurtosis value is </a:t>
            </a:r>
            <a:r>
              <a:rPr lang="en-US" sz="3200" b="1" dirty="0">
                <a:latin typeface="Times New Roman" panose="02020603050405020304" pitchFamily="18" charset="0"/>
                <a:cs typeface="Times New Roman" panose="02020603050405020304" pitchFamily="18" charset="0"/>
              </a:rPr>
              <a:t>3.8</a:t>
            </a:r>
            <a:r>
              <a:rPr lang="en-US" sz="3200" dirty="0">
                <a:latin typeface="Times New Roman" panose="02020603050405020304" pitchFamily="18" charset="0"/>
                <a:cs typeface="Times New Roman" panose="02020603050405020304" pitchFamily="18" charset="0"/>
              </a:rPr>
              <a:t>.</a:t>
            </a:r>
          </a:p>
          <a:p>
            <a:pPr>
              <a:lnSpc>
                <a:spcPct val="150000"/>
              </a:lnSpc>
            </a:pPr>
            <a:r>
              <a:rPr lang="en-US" sz="3200" dirty="0">
                <a:latin typeface="Times New Roman" panose="02020603050405020304" pitchFamily="18" charset="0"/>
                <a:cs typeface="Times New Roman" panose="02020603050405020304" pitchFamily="18" charset="0"/>
              </a:rPr>
              <a:t>Interpretation:</a:t>
            </a:r>
          </a:p>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Kurtosis = 3 → Normal (</a:t>
            </a:r>
            <a:r>
              <a:rPr lang="en-US" sz="3200" dirty="0" err="1">
                <a:latin typeface="Times New Roman" panose="02020603050405020304" pitchFamily="18" charset="0"/>
                <a:cs typeface="Times New Roman" panose="02020603050405020304" pitchFamily="18" charset="0"/>
              </a:rPr>
              <a:t>Mesokurtic</a:t>
            </a:r>
            <a:r>
              <a:rPr lang="en-US" sz="3200" dirty="0">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Kurtosis &gt; 3 → </a:t>
            </a:r>
            <a:r>
              <a:rPr lang="en-US" sz="3200" b="1" dirty="0">
                <a:latin typeface="Times New Roman" panose="02020603050405020304" pitchFamily="18" charset="0"/>
                <a:cs typeface="Times New Roman" panose="02020603050405020304" pitchFamily="18" charset="0"/>
              </a:rPr>
              <a:t>Leptokurtic (more peaked)</a:t>
            </a:r>
            <a:endParaRPr lang="en-US" sz="32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Kurtosis &lt; 3 → </a:t>
            </a:r>
            <a:r>
              <a:rPr lang="en-US" sz="3200" dirty="0" err="1">
                <a:latin typeface="Times New Roman" panose="02020603050405020304" pitchFamily="18" charset="0"/>
                <a:cs typeface="Times New Roman" panose="02020603050405020304" pitchFamily="18" charset="0"/>
              </a:rPr>
              <a:t>Platykurtic</a:t>
            </a:r>
            <a:r>
              <a:rPr lang="en-US" sz="3200" dirty="0">
                <a:latin typeface="Times New Roman" panose="02020603050405020304" pitchFamily="18" charset="0"/>
                <a:cs typeface="Times New Roman" panose="02020603050405020304" pitchFamily="18" charset="0"/>
              </a:rPr>
              <a:t> (flatter)</a:t>
            </a:r>
          </a:p>
          <a:p>
            <a:pPr>
              <a:lnSpc>
                <a:spcPct val="150000"/>
              </a:lnSpc>
            </a:pPr>
            <a:r>
              <a:rPr lang="en-US" sz="3200" dirty="0">
                <a:latin typeface="Times New Roman" panose="02020603050405020304" pitchFamily="18" charset="0"/>
                <a:cs typeface="Times New Roman" panose="02020603050405020304" pitchFamily="18" charset="0"/>
              </a:rPr>
              <a:t>Since </a:t>
            </a:r>
            <a:r>
              <a:rPr lang="en-US" sz="3200" b="1" dirty="0">
                <a:latin typeface="Times New Roman" panose="02020603050405020304" pitchFamily="18" charset="0"/>
                <a:cs typeface="Times New Roman" panose="02020603050405020304" pitchFamily="18" charset="0"/>
              </a:rPr>
              <a:t>3.8 &gt; 3</a:t>
            </a:r>
            <a:r>
              <a:rPr lang="en-US" sz="3200" dirty="0">
                <a:latin typeface="Times New Roman" panose="02020603050405020304" pitchFamily="18" charset="0"/>
                <a:cs typeface="Times New Roman" panose="02020603050405020304" pitchFamily="18" charset="0"/>
              </a:rPr>
              <a:t>, the distribution is </a:t>
            </a:r>
            <a:r>
              <a:rPr lang="en-US" sz="3200" b="1" dirty="0">
                <a:latin typeface="Times New Roman" panose="02020603050405020304" pitchFamily="18" charset="0"/>
                <a:cs typeface="Times New Roman" panose="02020603050405020304" pitchFamily="18" charset="0"/>
              </a:rPr>
              <a:t>Leptokurtic</a:t>
            </a:r>
            <a:r>
              <a:rPr lang="en-US" sz="3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3313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5271" y="734786"/>
            <a:ext cx="9617529" cy="5913157"/>
          </a:xfrm>
          <a:prstGeom prst="rect">
            <a:avLst/>
          </a:prstGeom>
        </p:spPr>
        <p:txBody>
          <a:bodyPr wrap="square">
            <a:spAutoFit/>
          </a:bodyPr>
          <a:lstStyle/>
          <a:p>
            <a:pPr>
              <a:lnSpc>
                <a:spcPct val="150000"/>
              </a:lnSpc>
            </a:pPr>
            <a:r>
              <a:rPr lang="en-US" sz="3200" b="1" dirty="0">
                <a:latin typeface="Times New Roman" panose="02020603050405020304" pitchFamily="18" charset="0"/>
                <a:cs typeface="Times New Roman" panose="02020603050405020304" pitchFamily="18" charset="0"/>
              </a:rPr>
              <a:t>Conclusion</a:t>
            </a:r>
          </a:p>
          <a:p>
            <a:pPr>
              <a:lnSpc>
                <a:spcPct val="150000"/>
              </a:lnSpc>
            </a:pPr>
            <a:r>
              <a:rPr lang="en-US" sz="3200" dirty="0">
                <a:latin typeface="Times New Roman" panose="02020603050405020304" pitchFamily="18" charset="0"/>
                <a:cs typeface="Times New Roman" panose="02020603050405020304" pitchFamily="18" charset="0"/>
              </a:rPr>
              <a:t>The distribution of exam scores is:</a:t>
            </a:r>
          </a:p>
          <a:p>
            <a:pPr>
              <a:lnSpc>
                <a:spcPct val="150000"/>
              </a:lnSpc>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Positively skewed</a:t>
            </a:r>
            <a:endParaRPr lang="en-US" sz="32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Leptokurtic</a:t>
            </a:r>
            <a:endParaRPr lang="en-US" sz="3200" dirty="0">
              <a:latin typeface="Times New Roman" panose="02020603050405020304" pitchFamily="18" charset="0"/>
              <a:cs typeface="Times New Roman" panose="02020603050405020304" pitchFamily="18" charset="0"/>
            </a:endParaRPr>
          </a:p>
          <a:p>
            <a:pPr>
              <a:lnSpc>
                <a:spcPct val="150000"/>
              </a:lnSpc>
            </a:pPr>
            <a:r>
              <a:rPr lang="en-US" sz="3200" dirty="0">
                <a:latin typeface="Times New Roman" panose="02020603050405020304" pitchFamily="18" charset="0"/>
                <a:cs typeface="Times New Roman" panose="02020603050405020304" pitchFamily="18" charset="0"/>
              </a:rPr>
              <a:t>This suggests that </a:t>
            </a:r>
            <a:r>
              <a:rPr lang="en-US" sz="3200" b="1" dirty="0">
                <a:latin typeface="Times New Roman" panose="02020603050405020304" pitchFamily="18" charset="0"/>
                <a:cs typeface="Times New Roman" panose="02020603050405020304" pitchFamily="18" charset="0"/>
              </a:rPr>
              <a:t>most students performed around the average</a:t>
            </a:r>
            <a:r>
              <a:rPr lang="en-US" sz="3200" dirty="0">
                <a:latin typeface="Times New Roman" panose="02020603050405020304" pitchFamily="18" charset="0"/>
                <a:cs typeface="Times New Roman" panose="02020603050405020304" pitchFamily="18" charset="0"/>
              </a:rPr>
              <a:t>, while </a:t>
            </a:r>
            <a:r>
              <a:rPr lang="en-US" sz="3200" b="1" dirty="0">
                <a:latin typeface="Times New Roman" panose="02020603050405020304" pitchFamily="18" charset="0"/>
                <a:cs typeface="Times New Roman" panose="02020603050405020304" pitchFamily="18" charset="0"/>
              </a:rPr>
              <a:t>a few students achieved exceptionally high scores</a:t>
            </a:r>
            <a:r>
              <a:rPr lang="en-US" sz="3200" dirty="0">
                <a:latin typeface="Times New Roman" panose="02020603050405020304" pitchFamily="18" charset="0"/>
                <a:cs typeface="Times New Roman" panose="02020603050405020304" pitchFamily="18" charset="0"/>
              </a:rPr>
              <a:t>, making the distribution slightly </a:t>
            </a:r>
            <a:r>
              <a:rPr lang="en-US" sz="3200" b="1" dirty="0">
                <a:latin typeface="Times New Roman" panose="02020603050405020304" pitchFamily="18" charset="0"/>
                <a:cs typeface="Times New Roman" panose="02020603050405020304" pitchFamily="18" charset="0"/>
              </a:rPr>
              <a:t>right-tailed and more peaked than normal</a:t>
            </a:r>
            <a:r>
              <a:rPr lang="en-US" sz="3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02764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85798" y="3050152"/>
            <a:ext cx="12246429" cy="2800767"/>
          </a:xfrm>
          <a:prstGeom prst="rect">
            <a:avLst/>
          </a:prstGeom>
        </p:spPr>
        <p:txBody>
          <a:bodyPr wrap="square">
            <a:spAutoFit/>
          </a:bodyPr>
          <a:lstStyle/>
          <a:p>
            <a:r>
              <a:rPr lang="en-US" sz="3200" b="1" dirty="0" smtClean="0">
                <a:latin typeface="Times New Roman" panose="02020603050405020304" pitchFamily="18" charset="0"/>
                <a:cs typeface="Times New Roman" panose="02020603050405020304" pitchFamily="18" charset="0"/>
              </a:rPr>
              <a:t>Question:</a:t>
            </a:r>
          </a:p>
          <a:p>
            <a:r>
              <a:rPr lang="en-US" sz="2400" dirty="0" smtClean="0">
                <a:latin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cs typeface="Times New Roman" panose="02020603050405020304" pitchFamily="18" charset="0"/>
              </a:rPr>
              <a:t>a frequency distribution, the following values are calculated:</a:t>
            </a: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P90=110</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P10=30</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Q3=80</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Q1=50</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Calculate the </a:t>
            </a:r>
            <a:r>
              <a:rPr lang="en-US" sz="2400" b="1" dirty="0">
                <a:latin typeface="Times New Roman" panose="02020603050405020304" pitchFamily="18" charset="0"/>
                <a:cs typeface="Times New Roman" panose="02020603050405020304" pitchFamily="18" charset="0"/>
              </a:rPr>
              <a:t>Coefficient of Kurtosis</a:t>
            </a:r>
            <a:r>
              <a:rPr lang="en-US" sz="2400" dirty="0">
                <a:latin typeface="Times New Roman" panose="02020603050405020304" pitchFamily="18" charset="0"/>
                <a:cs typeface="Times New Roman" panose="02020603050405020304" pitchFamily="18" charset="0"/>
              </a:rPr>
              <a:t> and explain the </a:t>
            </a:r>
            <a:r>
              <a:rPr lang="en-US" sz="2400" b="1" dirty="0">
                <a:latin typeface="Times New Roman" panose="02020603050405020304" pitchFamily="18" charset="0"/>
                <a:cs typeface="Times New Roman" panose="02020603050405020304" pitchFamily="18" charset="0"/>
              </a:rPr>
              <a:t>shape of the distribution</a:t>
            </a:r>
            <a:r>
              <a:rPr lang="en-US" sz="2400" dirty="0">
                <a:latin typeface="Times New Roman" panose="02020603050405020304" pitchFamily="18" charset="0"/>
                <a:cs typeface="Times New Roman" panose="02020603050405020304" pitchFamily="18" charset="0"/>
              </a:rPr>
              <a:t>.</a:t>
            </a:r>
          </a:p>
        </p:txBody>
      </p:sp>
      <p:sp>
        <p:nvSpPr>
          <p:cNvPr id="6" name="Rectangle 5"/>
          <p:cNvSpPr/>
          <p:nvPr/>
        </p:nvSpPr>
        <p:spPr>
          <a:xfrm>
            <a:off x="1083996" y="1039977"/>
            <a:ext cx="3897221" cy="584775"/>
          </a:xfrm>
          <a:prstGeom prst="rect">
            <a:avLst/>
          </a:prstGeom>
        </p:spPr>
        <p:txBody>
          <a:bodyPr wrap="none">
            <a:spAutoFit/>
          </a:bodyPr>
          <a:lstStyle/>
          <a:p>
            <a:r>
              <a:rPr lang="en-US" sz="3200" dirty="0">
                <a:solidFill>
                  <a:schemeClr val="bg1"/>
                </a:solidFill>
              </a:rPr>
              <a:t>Practice Questions</a:t>
            </a:r>
            <a:endParaRPr lang="en-US" sz="3200" dirty="0">
              <a:solidFill>
                <a:schemeClr val="bg1"/>
              </a:solidFill>
            </a:endParaRPr>
          </a:p>
        </p:txBody>
      </p:sp>
    </p:spTree>
    <p:extLst>
      <p:ext uri="{BB962C8B-B14F-4D97-AF65-F5344CB8AC3E}">
        <p14:creationId xmlns:p14="http://schemas.microsoft.com/office/powerpoint/2010/main" val="18161424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8457" y="2822139"/>
            <a:ext cx="7315200" cy="4555093"/>
          </a:xfrm>
          <a:prstGeom prst="rect">
            <a:avLst/>
          </a:prstGeom>
        </p:spPr>
        <p:txBody>
          <a:bodyPr>
            <a:spAutoFit/>
          </a:bodyPr>
          <a:lstStyle/>
          <a:p>
            <a:r>
              <a:rPr lang="en-US" sz="2000" dirty="0" smtClean="0">
                <a:latin typeface="Times New Roman" panose="02020603050405020304" pitchFamily="18" charset="0"/>
                <a:cs typeface="Times New Roman" panose="02020603050405020304" pitchFamily="18" charset="0"/>
              </a:rPr>
              <a:t>Question:</a:t>
            </a:r>
          </a:p>
          <a:p>
            <a:pPr>
              <a:lnSpc>
                <a:spcPct val="150000"/>
              </a:lnSpc>
            </a:pP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dataset has:</a:t>
            </a:r>
          </a:p>
          <a:p>
            <a:pPr>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P90=70</a:t>
            </a:r>
            <a:endParaRPr lang="en-US" sz="20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P10=20</a:t>
            </a:r>
            <a:endParaRPr lang="en-US" sz="20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Q3=55</a:t>
            </a:r>
            <a:endParaRPr lang="en-US" sz="20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Q1=35</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Tasks:</a:t>
            </a:r>
          </a:p>
          <a:p>
            <a:pPr>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Calculate </a:t>
            </a:r>
            <a:r>
              <a:rPr lang="en-US" sz="2000" b="1" dirty="0">
                <a:latin typeface="Times New Roman" panose="02020603050405020304" pitchFamily="18" charset="0"/>
                <a:cs typeface="Times New Roman" panose="02020603050405020304" pitchFamily="18" charset="0"/>
              </a:rPr>
              <a:t>Coefficient of Kurtosis</a:t>
            </a:r>
            <a:endParaRPr lang="en-US" sz="2000" dirty="0">
              <a:latin typeface="Times New Roman" panose="02020603050405020304" pitchFamily="18" charset="0"/>
              <a:cs typeface="Times New Roman" panose="02020603050405020304" pitchFamily="18" charset="0"/>
            </a:endParaRPr>
          </a:p>
          <a:p>
            <a:pPr>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Compare it with the </a:t>
            </a:r>
            <a:r>
              <a:rPr lang="en-US" sz="2000" b="1" dirty="0">
                <a:latin typeface="Times New Roman" panose="02020603050405020304" pitchFamily="18" charset="0"/>
                <a:cs typeface="Times New Roman" panose="02020603050405020304" pitchFamily="18" charset="0"/>
              </a:rPr>
              <a:t>normal distribution value</a:t>
            </a:r>
            <a:endParaRPr lang="en-US" sz="2000" dirty="0">
              <a:latin typeface="Times New Roman" panose="02020603050405020304" pitchFamily="18" charset="0"/>
              <a:cs typeface="Times New Roman" panose="02020603050405020304" pitchFamily="18" charset="0"/>
            </a:endParaRPr>
          </a:p>
          <a:p>
            <a:pPr>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State whether the distribution is </a:t>
            </a:r>
            <a:r>
              <a:rPr lang="en-US" sz="2000" b="1" dirty="0">
                <a:latin typeface="Times New Roman" panose="02020603050405020304" pitchFamily="18" charset="0"/>
                <a:cs typeface="Times New Roman" panose="02020603050405020304" pitchFamily="18" charset="0"/>
              </a:rPr>
              <a:t>peaked or flat</a:t>
            </a:r>
            <a:endParaRPr lang="en-US" sz="2000" dirty="0">
              <a:latin typeface="Times New Roman" panose="02020603050405020304" pitchFamily="18" charset="0"/>
              <a:cs typeface="Times New Roman" panose="02020603050405020304" pitchFamily="18" charset="0"/>
            </a:endParaRPr>
          </a:p>
        </p:txBody>
      </p:sp>
      <p:sp>
        <p:nvSpPr>
          <p:cNvPr id="3" name="Rectangle 2"/>
          <p:cNvSpPr/>
          <p:nvPr/>
        </p:nvSpPr>
        <p:spPr>
          <a:xfrm>
            <a:off x="1606510" y="1170605"/>
            <a:ext cx="4363695" cy="646331"/>
          </a:xfrm>
          <a:prstGeom prst="rect">
            <a:avLst/>
          </a:prstGeom>
        </p:spPr>
        <p:txBody>
          <a:bodyPr wrap="none">
            <a:spAutoFit/>
          </a:bodyPr>
          <a:lstStyle/>
          <a:p>
            <a:r>
              <a:rPr lang="en-US" sz="3600" dirty="0">
                <a:solidFill>
                  <a:schemeClr val="bg1"/>
                </a:solidFill>
              </a:rPr>
              <a:t>Practice Questions</a:t>
            </a:r>
            <a:endParaRPr lang="en-US" sz="3600" dirty="0">
              <a:solidFill>
                <a:schemeClr val="bg1"/>
              </a:solidFill>
            </a:endParaRPr>
          </a:p>
        </p:txBody>
      </p:sp>
    </p:spTree>
    <p:extLst>
      <p:ext uri="{BB962C8B-B14F-4D97-AF65-F5344CB8AC3E}">
        <p14:creationId xmlns:p14="http://schemas.microsoft.com/office/powerpoint/2010/main" val="9170418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5" name="Text 2"/>
          <p:cNvSpPr/>
          <p:nvPr/>
        </p:nvSpPr>
        <p:spPr>
          <a:xfrm>
            <a:off x="629869" y="1147038"/>
            <a:ext cx="13131879" cy="828726"/>
          </a:xfrm>
          <a:prstGeom prst="rect">
            <a:avLst/>
          </a:prstGeom>
          <a:noFill/>
          <a:ln/>
        </p:spPr>
        <p:txBody>
          <a:bodyPr wrap="square" lIns="0" tIns="0" rIns="0" bIns="0" rtlCol="0" anchor="t"/>
          <a:lstStyle/>
          <a:p>
            <a:pPr marL="0" indent="0" algn="ctr">
              <a:lnSpc>
                <a:spcPts val="5600"/>
              </a:lnSpc>
              <a:buNone/>
            </a:pPr>
            <a:r>
              <a:rPr lang="en-US" sz="36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ea typeface="Brygada 1918 Bold" pitchFamily="34" charset="-122"/>
                <a:cs typeface="Times New Roman" panose="02020603050405020304" pitchFamily="18" charset="0"/>
              </a:rPr>
              <a:t>Why </a:t>
            </a:r>
            <a:r>
              <a:rPr lang="en-US" sz="4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ea typeface="Brygada 1918 Bold" pitchFamily="34" charset="-122"/>
                <a:cs typeface="Times New Roman" panose="02020603050405020304" pitchFamily="18" charset="0"/>
              </a:rPr>
              <a:t>Skewness and </a:t>
            </a:r>
            <a:r>
              <a:rPr lang="en-US" sz="36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ea typeface="Brygada 1918 Bold" pitchFamily="34" charset="-122"/>
                <a:cs typeface="Times New Roman" panose="02020603050405020304" pitchFamily="18" charset="0"/>
              </a:rPr>
              <a:t>Kurtosis Matter in AI Model Training</a:t>
            </a:r>
            <a:endParaRPr lang="en-US" sz="36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Shape 3"/>
          <p:cNvSpPr/>
          <p:nvPr/>
        </p:nvSpPr>
        <p:spPr>
          <a:xfrm>
            <a:off x="749260" y="2953107"/>
            <a:ext cx="6458903" cy="2343983"/>
          </a:xfrm>
          <a:prstGeom prst="roundRect">
            <a:avLst>
              <a:gd name="adj" fmla="val 6242"/>
            </a:avLst>
          </a:prstGeom>
          <a:solidFill>
            <a:schemeClr val="accent1"/>
          </a:solidFill>
          <a:ln w="30480">
            <a:solidFill>
              <a:srgbClr val="662E42"/>
            </a:solidFill>
            <a:prstDash val="solid"/>
          </a:ln>
        </p:spPr>
      </p:sp>
      <p:sp>
        <p:nvSpPr>
          <p:cNvPr id="7" name="Shape 4"/>
          <p:cNvSpPr/>
          <p:nvPr/>
        </p:nvSpPr>
        <p:spPr>
          <a:xfrm>
            <a:off x="718780" y="2953107"/>
            <a:ext cx="121920" cy="2343983"/>
          </a:xfrm>
          <a:prstGeom prst="roundRect">
            <a:avLst>
              <a:gd name="adj" fmla="val 26342"/>
            </a:avLst>
          </a:prstGeom>
          <a:solidFill>
            <a:srgbClr val="FFB393"/>
          </a:solidFill>
          <a:ln/>
        </p:spPr>
      </p:sp>
      <p:sp>
        <p:nvSpPr>
          <p:cNvPr id="8" name="Text 5"/>
          <p:cNvSpPr/>
          <p:nvPr/>
        </p:nvSpPr>
        <p:spPr>
          <a:xfrm>
            <a:off x="1085255" y="3197662"/>
            <a:ext cx="3120271" cy="356830"/>
          </a:xfrm>
          <a:prstGeom prst="rect">
            <a:avLst/>
          </a:prstGeom>
          <a:noFill/>
          <a:ln/>
        </p:spPr>
        <p:txBody>
          <a:bodyPr wrap="none" lIns="0" tIns="0" rIns="0" bIns="0" rtlCol="0" anchor="t"/>
          <a:lstStyle/>
          <a:p>
            <a:pPr marL="0" indent="0" algn="l">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Assumption Violations</a:t>
            </a:r>
            <a:endParaRPr lang="en-US" sz="2200" dirty="0"/>
          </a:p>
        </p:txBody>
      </p:sp>
      <p:sp>
        <p:nvSpPr>
          <p:cNvPr id="9" name="Text 6"/>
          <p:cNvSpPr/>
          <p:nvPr/>
        </p:nvSpPr>
        <p:spPr>
          <a:xfrm>
            <a:off x="1085255" y="3682841"/>
            <a:ext cx="5878354" cy="1369695"/>
          </a:xfrm>
          <a:prstGeom prst="rect">
            <a:avLst/>
          </a:prstGeom>
          <a:noFill/>
          <a:ln/>
        </p:spPr>
        <p:txBody>
          <a:bodyPr wrap="square" lIns="0" tIns="0" rIns="0" bIns="0" rtlCol="0" anchor="t"/>
          <a:lstStyle/>
          <a:p>
            <a:pPr marL="0" indent="0" algn="l">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Many AI algorithms assume normally distributed features. Skewed or heavy-tailed data can bias predictions and violate fundamental model assumptions.</a:t>
            </a:r>
            <a:endParaRPr lang="en-US" sz="1650" dirty="0"/>
          </a:p>
        </p:txBody>
      </p:sp>
      <p:sp>
        <p:nvSpPr>
          <p:cNvPr id="10" name="Shape 7"/>
          <p:cNvSpPr/>
          <p:nvPr/>
        </p:nvSpPr>
        <p:spPr>
          <a:xfrm>
            <a:off x="7422237" y="2953107"/>
            <a:ext cx="6458903" cy="2343983"/>
          </a:xfrm>
          <a:prstGeom prst="roundRect">
            <a:avLst>
              <a:gd name="adj" fmla="val 6242"/>
            </a:avLst>
          </a:prstGeom>
          <a:solidFill>
            <a:schemeClr val="accent1"/>
          </a:solidFill>
          <a:ln w="30480">
            <a:solidFill>
              <a:srgbClr val="662E42"/>
            </a:solidFill>
            <a:prstDash val="solid"/>
          </a:ln>
        </p:spPr>
      </p:sp>
      <p:sp>
        <p:nvSpPr>
          <p:cNvPr id="11" name="Shape 8"/>
          <p:cNvSpPr/>
          <p:nvPr/>
        </p:nvSpPr>
        <p:spPr>
          <a:xfrm>
            <a:off x="7391757" y="2953107"/>
            <a:ext cx="121920" cy="2343983"/>
          </a:xfrm>
          <a:prstGeom prst="roundRect">
            <a:avLst>
              <a:gd name="adj" fmla="val 26342"/>
            </a:avLst>
          </a:prstGeom>
          <a:solidFill>
            <a:srgbClr val="FFB393"/>
          </a:solidFill>
          <a:ln/>
        </p:spPr>
      </p:sp>
      <p:sp>
        <p:nvSpPr>
          <p:cNvPr id="12" name="Text 9"/>
          <p:cNvSpPr/>
          <p:nvPr/>
        </p:nvSpPr>
        <p:spPr>
          <a:xfrm>
            <a:off x="7758232" y="3197662"/>
            <a:ext cx="4237553" cy="356830"/>
          </a:xfrm>
          <a:prstGeom prst="rect">
            <a:avLst/>
          </a:prstGeom>
          <a:noFill/>
          <a:ln/>
        </p:spPr>
        <p:txBody>
          <a:bodyPr wrap="none" lIns="0" tIns="0" rIns="0" bIns="0" rtlCol="0" anchor="t"/>
          <a:lstStyle/>
          <a:p>
            <a:pPr marL="0" indent="0" algn="l">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Feature Importance Distortion</a:t>
            </a:r>
            <a:endParaRPr lang="en-US" sz="2200" dirty="0"/>
          </a:p>
        </p:txBody>
      </p:sp>
      <p:sp>
        <p:nvSpPr>
          <p:cNvPr id="13" name="Text 10"/>
          <p:cNvSpPr/>
          <p:nvPr/>
        </p:nvSpPr>
        <p:spPr>
          <a:xfrm>
            <a:off x="7758232" y="3682841"/>
            <a:ext cx="5878354" cy="1027271"/>
          </a:xfrm>
          <a:prstGeom prst="rect">
            <a:avLst/>
          </a:prstGeom>
          <a:noFill/>
          <a:ln/>
        </p:spPr>
        <p:txBody>
          <a:bodyPr wrap="square" lIns="0" tIns="0" rIns="0" bIns="0" rtlCol="0" anchor="t"/>
          <a:lstStyle/>
          <a:p>
            <a:pPr marL="0" indent="0" algn="l">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Skewness can artificially amplify or suppress feature importance, misleading the model about which variables truly matter for accurate predictions.</a:t>
            </a:r>
            <a:endParaRPr lang="en-US" sz="1650" dirty="0"/>
          </a:p>
        </p:txBody>
      </p:sp>
      <p:sp>
        <p:nvSpPr>
          <p:cNvPr id="14" name="Shape 11"/>
          <p:cNvSpPr/>
          <p:nvPr/>
        </p:nvSpPr>
        <p:spPr>
          <a:xfrm>
            <a:off x="749260" y="5511165"/>
            <a:ext cx="6458903" cy="2001560"/>
          </a:xfrm>
          <a:prstGeom prst="roundRect">
            <a:avLst>
              <a:gd name="adj" fmla="val 7309"/>
            </a:avLst>
          </a:prstGeom>
          <a:solidFill>
            <a:schemeClr val="accent1"/>
          </a:solidFill>
          <a:ln w="30480">
            <a:solidFill>
              <a:srgbClr val="662E42"/>
            </a:solidFill>
            <a:prstDash val="solid"/>
          </a:ln>
        </p:spPr>
      </p:sp>
      <p:sp>
        <p:nvSpPr>
          <p:cNvPr id="15" name="Shape 12"/>
          <p:cNvSpPr/>
          <p:nvPr/>
        </p:nvSpPr>
        <p:spPr>
          <a:xfrm>
            <a:off x="718780" y="5511165"/>
            <a:ext cx="121920" cy="2001560"/>
          </a:xfrm>
          <a:prstGeom prst="roundRect">
            <a:avLst>
              <a:gd name="adj" fmla="val 26342"/>
            </a:avLst>
          </a:prstGeom>
          <a:solidFill>
            <a:srgbClr val="FFB393"/>
          </a:solidFill>
          <a:ln/>
        </p:spPr>
      </p:sp>
      <p:sp>
        <p:nvSpPr>
          <p:cNvPr id="16" name="Text 13"/>
          <p:cNvSpPr/>
          <p:nvPr/>
        </p:nvSpPr>
        <p:spPr>
          <a:xfrm>
            <a:off x="1085255" y="5755719"/>
            <a:ext cx="2854643" cy="356830"/>
          </a:xfrm>
          <a:prstGeom prst="rect">
            <a:avLst/>
          </a:prstGeom>
          <a:noFill/>
          <a:ln/>
        </p:spPr>
        <p:txBody>
          <a:bodyPr wrap="none" lIns="0" tIns="0" rIns="0" bIns="0" rtlCol="0" anchor="t"/>
          <a:lstStyle/>
          <a:p>
            <a:pPr marL="0" indent="0" algn="l">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Outlier Sensitivity</a:t>
            </a:r>
            <a:endParaRPr lang="en-US" sz="2200" dirty="0"/>
          </a:p>
        </p:txBody>
      </p:sp>
      <p:sp>
        <p:nvSpPr>
          <p:cNvPr id="17" name="Text 14"/>
          <p:cNvSpPr/>
          <p:nvPr/>
        </p:nvSpPr>
        <p:spPr>
          <a:xfrm>
            <a:off x="1085255" y="6240899"/>
            <a:ext cx="5878354" cy="1027271"/>
          </a:xfrm>
          <a:prstGeom prst="rect">
            <a:avLst/>
          </a:prstGeom>
          <a:noFill/>
          <a:ln/>
        </p:spPr>
        <p:txBody>
          <a:bodyPr wrap="square" lIns="0" tIns="0" rIns="0" bIns="0" rtlCol="0" anchor="t"/>
          <a:lstStyle/>
          <a:p>
            <a:pPr marL="0" indent="0" algn="l">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High kurtosis signals extreme outliers that can destabilize training algorithms, cause overfitting, or trigger numerical instability during optimization.</a:t>
            </a:r>
            <a:endParaRPr lang="en-US" sz="1650" dirty="0"/>
          </a:p>
        </p:txBody>
      </p:sp>
      <p:sp>
        <p:nvSpPr>
          <p:cNvPr id="18" name="Shape 15"/>
          <p:cNvSpPr/>
          <p:nvPr/>
        </p:nvSpPr>
        <p:spPr>
          <a:xfrm>
            <a:off x="7422237" y="5511165"/>
            <a:ext cx="6458903" cy="2001560"/>
          </a:xfrm>
          <a:prstGeom prst="roundRect">
            <a:avLst>
              <a:gd name="adj" fmla="val 7309"/>
            </a:avLst>
          </a:prstGeom>
          <a:solidFill>
            <a:schemeClr val="accent1"/>
          </a:solidFill>
          <a:ln w="30480">
            <a:solidFill>
              <a:srgbClr val="662E42"/>
            </a:solidFill>
            <a:prstDash val="solid"/>
          </a:ln>
        </p:spPr>
      </p:sp>
      <p:sp>
        <p:nvSpPr>
          <p:cNvPr id="19" name="Shape 16"/>
          <p:cNvSpPr/>
          <p:nvPr/>
        </p:nvSpPr>
        <p:spPr>
          <a:xfrm>
            <a:off x="7391757" y="5511165"/>
            <a:ext cx="121920" cy="2001560"/>
          </a:xfrm>
          <a:prstGeom prst="roundRect">
            <a:avLst>
              <a:gd name="adj" fmla="val 26342"/>
            </a:avLst>
          </a:prstGeom>
          <a:solidFill>
            <a:srgbClr val="FFB393"/>
          </a:solidFill>
          <a:ln/>
        </p:spPr>
      </p:sp>
      <p:sp>
        <p:nvSpPr>
          <p:cNvPr id="20" name="Text 17"/>
          <p:cNvSpPr/>
          <p:nvPr/>
        </p:nvSpPr>
        <p:spPr>
          <a:xfrm>
            <a:off x="7758232" y="5755719"/>
            <a:ext cx="2854643" cy="356830"/>
          </a:xfrm>
          <a:prstGeom prst="rect">
            <a:avLst/>
          </a:prstGeom>
          <a:noFill/>
          <a:ln/>
        </p:spPr>
        <p:txBody>
          <a:bodyPr wrap="none" lIns="0" tIns="0" rIns="0" bIns="0" rtlCol="0" anchor="t"/>
          <a:lstStyle/>
          <a:p>
            <a:pPr marL="0" indent="0" algn="l">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Convergence Issues</a:t>
            </a:r>
            <a:endParaRPr lang="en-US" sz="2200" dirty="0"/>
          </a:p>
        </p:txBody>
      </p:sp>
      <p:sp>
        <p:nvSpPr>
          <p:cNvPr id="21" name="Text 18"/>
          <p:cNvSpPr/>
          <p:nvPr/>
        </p:nvSpPr>
        <p:spPr>
          <a:xfrm>
            <a:off x="7758232" y="6240899"/>
            <a:ext cx="5878354" cy="1027271"/>
          </a:xfrm>
          <a:prstGeom prst="rect">
            <a:avLst/>
          </a:prstGeom>
          <a:noFill/>
          <a:ln/>
        </p:spPr>
        <p:txBody>
          <a:bodyPr wrap="square" lIns="0" tIns="0" rIns="0" bIns="0" rtlCol="0" anchor="t"/>
          <a:lstStyle/>
          <a:p>
            <a:pPr marL="0" indent="0" algn="l">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Gradient-based optimization struggles with highly skewed data, leading to slow convergence or failure to find optimal model parameters.</a:t>
            </a:r>
            <a:endParaRPr lang="en-US" sz="165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9260" y="1089422"/>
            <a:ext cx="13008888" cy="713542"/>
          </a:xfrm>
          <a:prstGeom prst="rect">
            <a:avLst/>
          </a:prstGeom>
          <a:noFill/>
          <a:ln/>
        </p:spPr>
        <p:txBody>
          <a:bodyPr wrap="none" lIns="0" tIns="0" rIns="0" bIns="0" rtlCol="0" anchor="t"/>
          <a:lstStyle/>
          <a:p>
            <a:pPr marL="0" indent="0" algn="l">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Handling Skewness and Kurtosis in AI Pipelines</a:t>
            </a:r>
            <a:endParaRPr lang="en-US" sz="4450" dirty="0"/>
          </a:p>
        </p:txBody>
      </p:sp>
      <p:pic>
        <p:nvPicPr>
          <p:cNvPr id="3" name="Image 0" descr="preencoded.png"/>
          <p:cNvPicPr>
            <a:picLocks noChangeAspect="1"/>
          </p:cNvPicPr>
          <p:nvPr/>
        </p:nvPicPr>
        <p:blipFill>
          <a:blip r:embed="rId3">
            <a:duotone>
              <a:schemeClr val="accent1">
                <a:shade val="45000"/>
                <a:satMod val="135000"/>
              </a:schemeClr>
              <a:prstClr val="white"/>
            </a:duotone>
          </a:blip>
          <a:stretch>
            <a:fillRect/>
          </a:stretch>
        </p:blipFill>
        <p:spPr>
          <a:xfrm>
            <a:off x="535008" y="3008889"/>
            <a:ext cx="6565940" cy="856298"/>
          </a:xfrm>
          <a:prstGeom prst="rect">
            <a:avLst/>
          </a:prstGeom>
          <a:ln>
            <a:solidFill>
              <a:schemeClr val="accent1"/>
            </a:solidFill>
          </a:ln>
        </p:spPr>
      </p:pic>
      <p:sp>
        <p:nvSpPr>
          <p:cNvPr id="4" name="Text 1"/>
          <p:cNvSpPr/>
          <p:nvPr/>
        </p:nvSpPr>
        <p:spPr>
          <a:xfrm>
            <a:off x="963335" y="3301484"/>
            <a:ext cx="2854643" cy="356830"/>
          </a:xfrm>
          <a:prstGeom prst="rect">
            <a:avLst/>
          </a:prstGeom>
          <a:noFill/>
          <a:ln/>
        </p:spPr>
        <p:txBody>
          <a:bodyPr wrap="none" lIns="0" tIns="0" rIns="0" bIns="0" rtlCol="0" anchor="t"/>
          <a:lstStyle/>
          <a:p>
            <a:pPr marL="0" indent="0" algn="l">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Detect</a:t>
            </a:r>
            <a:endParaRPr lang="en-US" sz="2200" dirty="0"/>
          </a:p>
        </p:txBody>
      </p:sp>
      <p:sp>
        <p:nvSpPr>
          <p:cNvPr id="5" name="Text 2"/>
          <p:cNvSpPr/>
          <p:nvPr/>
        </p:nvSpPr>
        <p:spPr>
          <a:xfrm>
            <a:off x="749260" y="4159229"/>
            <a:ext cx="6137791" cy="684848"/>
          </a:xfrm>
          <a:prstGeom prst="rect">
            <a:avLst/>
          </a:prstGeom>
          <a:noFill/>
          <a:ln/>
        </p:spPr>
        <p:txBody>
          <a:bodyPr wrap="square" lIns="0" tIns="0" rIns="0" bIns="0" rtlCol="0" anchor="t"/>
          <a:lstStyle/>
          <a:p>
            <a:pPr marL="0" indent="0" algn="l">
              <a:lnSpc>
                <a:spcPts val="2650"/>
              </a:lnSpc>
              <a:buNone/>
            </a:pPr>
            <a:r>
              <a:rPr lang="en-US" sz="2000" dirty="0">
                <a:latin typeface="Montserrat Medium" pitchFamily="34" charset="0"/>
                <a:ea typeface="Montserrat Medium" pitchFamily="34" charset="-122"/>
                <a:cs typeface="Montserrat Medium" pitchFamily="34" charset="-120"/>
              </a:rPr>
              <a:t>Compute metrics and visualize with histograms during EDA to identify distribution issues.</a:t>
            </a:r>
            <a:endParaRPr lang="en-US" sz="2000" dirty="0"/>
          </a:p>
        </p:txBody>
      </p:sp>
      <p:pic>
        <p:nvPicPr>
          <p:cNvPr id="6" name="Image 1" descr="preencoded.png"/>
          <p:cNvPicPr>
            <a:picLocks noChangeAspect="1"/>
          </p:cNvPicPr>
          <p:nvPr/>
        </p:nvPicPr>
        <p:blipFill>
          <a:blip r:embed="rId4">
            <a:duotone>
              <a:schemeClr val="accent1">
                <a:shade val="45000"/>
                <a:satMod val="135000"/>
              </a:schemeClr>
              <a:prstClr val="white"/>
            </a:duotone>
          </a:blip>
          <a:stretch>
            <a:fillRect/>
          </a:stretch>
        </p:blipFill>
        <p:spPr>
          <a:xfrm>
            <a:off x="7192208" y="2903162"/>
            <a:ext cx="6565940" cy="856298"/>
          </a:xfrm>
          <a:prstGeom prst="rect">
            <a:avLst/>
          </a:prstGeom>
        </p:spPr>
      </p:pic>
      <p:sp>
        <p:nvSpPr>
          <p:cNvPr id="7" name="Text 3"/>
          <p:cNvSpPr/>
          <p:nvPr/>
        </p:nvSpPr>
        <p:spPr>
          <a:xfrm>
            <a:off x="7529274" y="3301484"/>
            <a:ext cx="2854643" cy="356830"/>
          </a:xfrm>
          <a:prstGeom prst="rect">
            <a:avLst/>
          </a:prstGeom>
          <a:noFill/>
          <a:ln/>
        </p:spPr>
        <p:txBody>
          <a:bodyPr wrap="none" lIns="0" tIns="0" rIns="0" bIns="0" rtlCol="0" anchor="t"/>
          <a:lstStyle/>
          <a:p>
            <a:pPr marL="0" indent="0" algn="l">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Transform</a:t>
            </a:r>
            <a:endParaRPr lang="en-US" sz="2200" dirty="0"/>
          </a:p>
        </p:txBody>
      </p:sp>
      <p:sp>
        <p:nvSpPr>
          <p:cNvPr id="8" name="Text 4"/>
          <p:cNvSpPr/>
          <p:nvPr/>
        </p:nvSpPr>
        <p:spPr>
          <a:xfrm>
            <a:off x="7529273" y="3895328"/>
            <a:ext cx="6137791" cy="684848"/>
          </a:xfrm>
          <a:prstGeom prst="rect">
            <a:avLst/>
          </a:prstGeom>
          <a:noFill/>
          <a:ln/>
        </p:spPr>
        <p:txBody>
          <a:bodyPr wrap="square" lIns="0" tIns="0" rIns="0" bIns="0" rtlCol="0" anchor="t"/>
          <a:lstStyle/>
          <a:p>
            <a:pPr marL="0" indent="0" algn="l">
              <a:lnSpc>
                <a:spcPts val="2650"/>
              </a:lnSpc>
              <a:buNone/>
            </a:pPr>
            <a:r>
              <a:rPr lang="en-US" sz="2000" dirty="0">
                <a:latin typeface="Montserrat Medium" pitchFamily="34" charset="0"/>
                <a:ea typeface="Montserrat Medium" pitchFamily="34" charset="-122"/>
                <a:cs typeface="Montserrat Medium" pitchFamily="34" charset="-120"/>
              </a:rPr>
              <a:t>Apply log, square root, or Box-Cox transformations to normalize skewed features.</a:t>
            </a:r>
            <a:endParaRPr lang="en-US" sz="2000" dirty="0"/>
          </a:p>
        </p:txBody>
      </p:sp>
      <p:pic>
        <p:nvPicPr>
          <p:cNvPr id="9" name="Image 2" descr="preencoded.png"/>
          <p:cNvPicPr>
            <a:picLocks noChangeAspect="1"/>
          </p:cNvPicPr>
          <p:nvPr/>
        </p:nvPicPr>
        <p:blipFill>
          <a:blip r:embed="rId5">
            <a:duotone>
              <a:schemeClr val="accent1">
                <a:shade val="45000"/>
                <a:satMod val="135000"/>
              </a:schemeClr>
              <a:prstClr val="white"/>
            </a:duotone>
          </a:blip>
          <a:stretch>
            <a:fillRect/>
          </a:stretch>
        </p:blipFill>
        <p:spPr>
          <a:xfrm>
            <a:off x="292060" y="5320665"/>
            <a:ext cx="6565940" cy="856298"/>
          </a:xfrm>
          <a:prstGeom prst="rect">
            <a:avLst/>
          </a:prstGeom>
        </p:spPr>
      </p:pic>
      <p:sp>
        <p:nvSpPr>
          <p:cNvPr id="10" name="Text 5"/>
          <p:cNvSpPr/>
          <p:nvPr/>
        </p:nvSpPr>
        <p:spPr>
          <a:xfrm>
            <a:off x="963335" y="5755958"/>
            <a:ext cx="2854643" cy="356830"/>
          </a:xfrm>
          <a:prstGeom prst="rect">
            <a:avLst/>
          </a:prstGeom>
          <a:noFill/>
          <a:ln/>
        </p:spPr>
        <p:txBody>
          <a:bodyPr wrap="none" lIns="0" tIns="0" rIns="0" bIns="0" rtlCol="0" anchor="t"/>
          <a:lstStyle/>
          <a:p>
            <a:pPr marL="0" indent="0" algn="l">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Stabilize</a:t>
            </a:r>
            <a:endParaRPr lang="en-US" sz="2200" dirty="0"/>
          </a:p>
        </p:txBody>
      </p:sp>
      <p:sp>
        <p:nvSpPr>
          <p:cNvPr id="11" name="Text 6"/>
          <p:cNvSpPr/>
          <p:nvPr/>
        </p:nvSpPr>
        <p:spPr>
          <a:xfrm>
            <a:off x="749082" y="6351211"/>
            <a:ext cx="6137791" cy="684848"/>
          </a:xfrm>
          <a:prstGeom prst="rect">
            <a:avLst/>
          </a:prstGeom>
          <a:noFill/>
          <a:ln/>
        </p:spPr>
        <p:txBody>
          <a:bodyPr wrap="square" lIns="0" tIns="0" rIns="0" bIns="0" rtlCol="0" anchor="t"/>
          <a:lstStyle/>
          <a:p>
            <a:pPr marL="0" indent="0" algn="l">
              <a:lnSpc>
                <a:spcPts val="2650"/>
              </a:lnSpc>
              <a:buNone/>
            </a:pPr>
            <a:r>
              <a:rPr lang="en-US" sz="2000" dirty="0">
                <a:latin typeface="Montserrat Medium" pitchFamily="34" charset="0"/>
                <a:ea typeface="Montserrat Medium" pitchFamily="34" charset="-122"/>
                <a:cs typeface="Montserrat Medium" pitchFamily="34" charset="-120"/>
              </a:rPr>
              <a:t>Use robust scaling, winsorization, or outlier trimming to manage kurtosis effects.</a:t>
            </a:r>
            <a:endParaRPr lang="en-US" sz="2000" dirty="0"/>
          </a:p>
        </p:txBody>
      </p:sp>
      <p:pic>
        <p:nvPicPr>
          <p:cNvPr id="12" name="Image 3" descr="preencoded.png"/>
          <p:cNvPicPr>
            <a:picLocks noChangeAspect="1"/>
          </p:cNvPicPr>
          <p:nvPr/>
        </p:nvPicPr>
        <p:blipFill>
          <a:blip r:embed="rId6">
            <a:duotone>
              <a:schemeClr val="accent1">
                <a:shade val="45000"/>
                <a:satMod val="135000"/>
              </a:schemeClr>
              <a:prstClr val="white"/>
            </a:duotone>
          </a:blip>
          <a:stretch>
            <a:fillRect/>
          </a:stretch>
        </p:blipFill>
        <p:spPr>
          <a:xfrm>
            <a:off x="7315200" y="5384839"/>
            <a:ext cx="6565940" cy="856298"/>
          </a:xfrm>
          <a:prstGeom prst="rect">
            <a:avLst/>
          </a:prstGeom>
        </p:spPr>
      </p:pic>
      <p:sp>
        <p:nvSpPr>
          <p:cNvPr id="13" name="Text 7"/>
          <p:cNvSpPr/>
          <p:nvPr/>
        </p:nvSpPr>
        <p:spPr>
          <a:xfrm>
            <a:off x="7529274" y="5755958"/>
            <a:ext cx="2854643" cy="356830"/>
          </a:xfrm>
          <a:prstGeom prst="rect">
            <a:avLst/>
          </a:prstGeom>
          <a:noFill/>
          <a:ln/>
        </p:spPr>
        <p:txBody>
          <a:bodyPr wrap="none" lIns="0" tIns="0" rIns="0" bIns="0" rtlCol="0" anchor="t"/>
          <a:lstStyle/>
          <a:p>
            <a:pPr marL="0" indent="0" algn="l">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Optimize</a:t>
            </a:r>
            <a:endParaRPr lang="en-US" sz="2200" dirty="0"/>
          </a:p>
        </p:txBody>
      </p:sp>
      <p:sp>
        <p:nvSpPr>
          <p:cNvPr id="14" name="Text 8"/>
          <p:cNvSpPr/>
          <p:nvPr/>
        </p:nvSpPr>
        <p:spPr>
          <a:xfrm>
            <a:off x="7529274" y="6363623"/>
            <a:ext cx="6137791" cy="684848"/>
          </a:xfrm>
          <a:prstGeom prst="rect">
            <a:avLst/>
          </a:prstGeom>
          <a:noFill/>
          <a:ln/>
        </p:spPr>
        <p:txBody>
          <a:bodyPr wrap="square" lIns="0" tIns="0" rIns="0" bIns="0" rtlCol="0" anchor="t"/>
          <a:lstStyle/>
          <a:p>
            <a:pPr marL="0" indent="0" algn="l">
              <a:lnSpc>
                <a:spcPts val="2650"/>
              </a:lnSpc>
              <a:buNone/>
            </a:pPr>
            <a:r>
              <a:rPr lang="en-US" dirty="0">
                <a:latin typeface="Montserrat Medium" pitchFamily="34" charset="0"/>
                <a:ea typeface="Montserrat Medium" pitchFamily="34" charset="-122"/>
                <a:cs typeface="Montserrat Medium" pitchFamily="34" charset="-120"/>
              </a:rPr>
              <a:t>Achieve faster convergence, better interpretability, and superior predictive power.</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731639" y="607457"/>
            <a:ext cx="7680722" cy="1393746"/>
          </a:xfrm>
          <a:prstGeom prst="rect">
            <a:avLst/>
          </a:prstGeom>
          <a:noFill/>
          <a:ln/>
        </p:spPr>
        <p:txBody>
          <a:bodyPr wrap="square" lIns="0" tIns="0" rIns="0" bIns="0" rtlCol="0" anchor="t"/>
          <a:lstStyle/>
          <a:p>
            <a:pPr marL="0" indent="0" algn="l">
              <a:lnSpc>
                <a:spcPts val="5450"/>
              </a:lnSpc>
              <a:buNone/>
            </a:pPr>
            <a:r>
              <a:rPr lang="en-US" sz="4350" b="1" dirty="0">
                <a:solidFill>
                  <a:srgbClr val="FFB393"/>
                </a:solidFill>
                <a:latin typeface="Brygada 1918 Bold" pitchFamily="34" charset="0"/>
                <a:ea typeface="Brygada 1918 Bold" pitchFamily="34" charset="-122"/>
                <a:cs typeface="Brygada 1918 Bold" pitchFamily="34" charset="-120"/>
              </a:rPr>
              <a:t>Conclusion: Mastering Data Shape is Key to AI Success</a:t>
            </a:r>
            <a:endParaRPr lang="en-US" sz="4350" dirty="0"/>
          </a:p>
        </p:txBody>
      </p:sp>
      <p:sp>
        <p:nvSpPr>
          <p:cNvPr id="4" name="Shape 1"/>
          <p:cNvSpPr/>
          <p:nvPr/>
        </p:nvSpPr>
        <p:spPr>
          <a:xfrm>
            <a:off x="440871" y="3022897"/>
            <a:ext cx="4029092" cy="2866894"/>
          </a:xfrm>
          <a:prstGeom prst="roundRect">
            <a:avLst>
              <a:gd name="adj" fmla="val 22697"/>
            </a:avLst>
          </a:prstGeom>
          <a:solidFill>
            <a:schemeClr val="accent2"/>
          </a:solidFill>
          <a:ln/>
        </p:spPr>
      </p:sp>
      <p:sp>
        <p:nvSpPr>
          <p:cNvPr id="5" name="Text 2"/>
          <p:cNvSpPr/>
          <p:nvPr/>
        </p:nvSpPr>
        <p:spPr>
          <a:xfrm>
            <a:off x="1061671" y="3203380"/>
            <a:ext cx="2787491" cy="348377"/>
          </a:xfrm>
          <a:prstGeom prst="rect">
            <a:avLst/>
          </a:prstGeom>
          <a:noFill/>
          <a:ln/>
        </p:spPr>
        <p:txBody>
          <a:bodyPr wrap="none" lIns="0" tIns="0" rIns="0" bIns="0" rtlCol="0" anchor="t"/>
          <a:lstStyle/>
          <a:p>
            <a:pPr marL="0" indent="0" algn="l">
              <a:lnSpc>
                <a:spcPts val="2700"/>
              </a:lnSpc>
              <a:buNone/>
            </a:pPr>
            <a:r>
              <a:rPr lang="en-US" sz="2400" b="1" dirty="0">
                <a:latin typeface="Brygada 1918 Bold" pitchFamily="34" charset="0"/>
                <a:ea typeface="Brygada 1918 Bold" pitchFamily="34" charset="-122"/>
                <a:cs typeface="Brygada 1918 Bold" pitchFamily="34" charset="-120"/>
              </a:rPr>
              <a:t>Deeper Insights</a:t>
            </a:r>
            <a:endParaRPr lang="en-US" sz="2400" dirty="0"/>
          </a:p>
        </p:txBody>
      </p:sp>
      <p:sp>
        <p:nvSpPr>
          <p:cNvPr id="6" name="Text 3"/>
          <p:cNvSpPr/>
          <p:nvPr/>
        </p:nvSpPr>
        <p:spPr>
          <a:xfrm>
            <a:off x="870378" y="3705225"/>
            <a:ext cx="3320415" cy="991553"/>
          </a:xfrm>
          <a:prstGeom prst="rect">
            <a:avLst/>
          </a:prstGeom>
          <a:noFill/>
          <a:ln/>
        </p:spPr>
        <p:txBody>
          <a:bodyPr wrap="square" lIns="0" tIns="0" rIns="0" bIns="0" rtlCol="0" anchor="t"/>
          <a:lstStyle/>
          <a:p>
            <a:pPr marL="0" indent="0" algn="l">
              <a:lnSpc>
                <a:spcPct val="150000"/>
              </a:lnSpc>
              <a:buNone/>
            </a:pPr>
            <a:r>
              <a:rPr lang="en-US" sz="2000" dirty="0">
                <a:solidFill>
                  <a:srgbClr val="F4CAB8"/>
                </a:solidFill>
                <a:latin typeface="Montserrat Medium" pitchFamily="34" charset="0"/>
                <a:ea typeface="Montserrat Medium" pitchFamily="34" charset="-122"/>
                <a:cs typeface="Montserrat Medium" pitchFamily="34" charset="-120"/>
              </a:rPr>
              <a:t>Skewness and kurtosis unlock understanding of data beyond simple averages and spreads.</a:t>
            </a:r>
            <a:endParaRPr lang="en-US" sz="2000" dirty="0"/>
          </a:p>
        </p:txBody>
      </p:sp>
      <p:sp>
        <p:nvSpPr>
          <p:cNvPr id="7" name="Shape 4"/>
          <p:cNvSpPr/>
          <p:nvPr/>
        </p:nvSpPr>
        <p:spPr>
          <a:xfrm>
            <a:off x="4620300" y="3022897"/>
            <a:ext cx="3792061" cy="2866893"/>
          </a:xfrm>
          <a:prstGeom prst="roundRect">
            <a:avLst>
              <a:gd name="adj" fmla="val 22697"/>
            </a:avLst>
          </a:prstGeom>
          <a:solidFill>
            <a:schemeClr val="accent1"/>
          </a:solidFill>
          <a:ln/>
        </p:spPr>
      </p:sp>
      <p:sp>
        <p:nvSpPr>
          <p:cNvPr id="8" name="Text 5"/>
          <p:cNvSpPr/>
          <p:nvPr/>
        </p:nvSpPr>
        <p:spPr>
          <a:xfrm>
            <a:off x="5009347" y="3164096"/>
            <a:ext cx="2919770" cy="348377"/>
          </a:xfrm>
          <a:prstGeom prst="rect">
            <a:avLst/>
          </a:prstGeom>
          <a:noFill/>
          <a:ln/>
        </p:spPr>
        <p:txBody>
          <a:bodyPr wrap="none" lIns="0" tIns="0" rIns="0" bIns="0" rtlCol="0" anchor="t"/>
          <a:lstStyle/>
          <a:p>
            <a:pPr marL="0" indent="0" algn="l">
              <a:lnSpc>
                <a:spcPts val="2700"/>
              </a:lnSpc>
              <a:buNone/>
            </a:pPr>
            <a:r>
              <a:rPr lang="en-US" sz="2150" b="1" dirty="0">
                <a:latin typeface="Brygada 1918 Bold" pitchFamily="34" charset="0"/>
                <a:ea typeface="Brygada 1918 Bold" pitchFamily="34" charset="-122"/>
                <a:cs typeface="Brygada 1918 Bold" pitchFamily="34" charset="-120"/>
              </a:rPr>
              <a:t>Avoid Costly Mistakes</a:t>
            </a:r>
            <a:endParaRPr lang="en-US" sz="2150" dirty="0"/>
          </a:p>
        </p:txBody>
      </p:sp>
      <p:sp>
        <p:nvSpPr>
          <p:cNvPr id="9" name="Text 6"/>
          <p:cNvSpPr/>
          <p:nvPr/>
        </p:nvSpPr>
        <p:spPr>
          <a:xfrm>
            <a:off x="4809024" y="3653672"/>
            <a:ext cx="3320415" cy="1322070"/>
          </a:xfrm>
          <a:prstGeom prst="rect">
            <a:avLst/>
          </a:prstGeom>
          <a:noFill/>
          <a:ln/>
        </p:spPr>
        <p:txBody>
          <a:bodyPr wrap="square" lIns="0" tIns="0" rIns="0" bIns="0" rtlCol="0" anchor="t"/>
          <a:lstStyle/>
          <a:p>
            <a:pPr marL="0" indent="0" algn="just">
              <a:lnSpc>
                <a:spcPct val="150000"/>
              </a:lnSpc>
              <a:buNone/>
            </a:pPr>
            <a:r>
              <a:rPr lang="en-US" sz="2000" dirty="0">
                <a:solidFill>
                  <a:srgbClr val="F4CAB8"/>
                </a:solidFill>
                <a:latin typeface="Montserrat Medium" pitchFamily="34" charset="0"/>
                <a:ea typeface="Montserrat Medium" pitchFamily="34" charset="-122"/>
                <a:cs typeface="Montserrat Medium" pitchFamily="34" charset="-120"/>
              </a:rPr>
              <a:t>Ignoring distribution shape risks fundamentally flawed models and missed opportunities.</a:t>
            </a:r>
            <a:endParaRPr lang="en-US" sz="2000" dirty="0"/>
          </a:p>
        </p:txBody>
      </p:sp>
      <p:sp>
        <p:nvSpPr>
          <p:cNvPr id="10" name="Shape 7"/>
          <p:cNvSpPr/>
          <p:nvPr/>
        </p:nvSpPr>
        <p:spPr>
          <a:xfrm>
            <a:off x="731639" y="6093863"/>
            <a:ext cx="7680722" cy="1549718"/>
          </a:xfrm>
          <a:prstGeom prst="roundRect">
            <a:avLst>
              <a:gd name="adj" fmla="val 32378"/>
            </a:avLst>
          </a:prstGeom>
          <a:solidFill>
            <a:schemeClr val="accent2"/>
          </a:solidFill>
          <a:ln/>
        </p:spPr>
      </p:sp>
      <p:sp>
        <p:nvSpPr>
          <p:cNvPr id="11" name="Text 8"/>
          <p:cNvSpPr/>
          <p:nvPr/>
        </p:nvSpPr>
        <p:spPr>
          <a:xfrm>
            <a:off x="1210567" y="6099323"/>
            <a:ext cx="2787491" cy="348377"/>
          </a:xfrm>
          <a:prstGeom prst="rect">
            <a:avLst/>
          </a:prstGeom>
          <a:noFill/>
          <a:ln/>
        </p:spPr>
        <p:txBody>
          <a:bodyPr wrap="none" lIns="0" tIns="0" rIns="0" bIns="0" rtlCol="0" anchor="t"/>
          <a:lstStyle/>
          <a:p>
            <a:pPr marL="0" indent="0" algn="l">
              <a:lnSpc>
                <a:spcPts val="2700"/>
              </a:lnSpc>
              <a:buNone/>
            </a:pPr>
            <a:r>
              <a:rPr lang="en-US" sz="2150" b="1" dirty="0">
                <a:latin typeface="Brygada 1918 Bold" pitchFamily="34" charset="0"/>
                <a:ea typeface="Brygada 1918 Bold" pitchFamily="34" charset="-122"/>
                <a:cs typeface="Brygada 1918 Bold" pitchFamily="34" charset="-120"/>
              </a:rPr>
              <a:t>Build Better AI</a:t>
            </a:r>
            <a:endParaRPr lang="en-US" sz="2150" dirty="0"/>
          </a:p>
        </p:txBody>
      </p:sp>
      <p:sp>
        <p:nvSpPr>
          <p:cNvPr id="12" name="Text 9"/>
          <p:cNvSpPr/>
          <p:nvPr/>
        </p:nvSpPr>
        <p:spPr>
          <a:xfrm>
            <a:off x="1210567" y="6400800"/>
            <a:ext cx="7262813" cy="661035"/>
          </a:xfrm>
          <a:prstGeom prst="rect">
            <a:avLst/>
          </a:prstGeom>
          <a:noFill/>
          <a:ln/>
        </p:spPr>
        <p:txBody>
          <a:bodyPr wrap="square" lIns="0" tIns="0" rIns="0" bIns="0" rtlCol="0" anchor="t"/>
          <a:lstStyle/>
          <a:p>
            <a:pPr marL="0" indent="0" algn="l">
              <a:lnSpc>
                <a:spcPct val="150000"/>
              </a:lnSpc>
              <a:buNone/>
            </a:pPr>
            <a:r>
              <a:rPr lang="en-US" sz="2000" dirty="0">
                <a:solidFill>
                  <a:srgbClr val="F4CAB8"/>
                </a:solidFill>
                <a:latin typeface="Montserrat Medium" pitchFamily="34" charset="0"/>
                <a:ea typeface="Montserrat Medium" pitchFamily="34" charset="-122"/>
                <a:cs typeface="Montserrat Medium" pitchFamily="34" charset="-120"/>
              </a:rPr>
              <a:t>Embrace these metrics to create robust, fair, and accurate machine learning systems.</a:t>
            </a:r>
            <a:endParaRPr lang="en-US" sz="2000" dirty="0"/>
          </a:p>
        </p:txBody>
      </p:sp>
      <p:sp>
        <p:nvSpPr>
          <p:cNvPr id="14" name="Shape 11"/>
          <p:cNvSpPr/>
          <p:nvPr/>
        </p:nvSpPr>
        <p:spPr>
          <a:xfrm>
            <a:off x="731639" y="6501646"/>
            <a:ext cx="22860" cy="1120378"/>
          </a:xfrm>
          <a:prstGeom prst="rect">
            <a:avLst/>
          </a:prstGeom>
          <a:solidFill>
            <a:srgbClr val="FFB393"/>
          </a:solidFill>
          <a:ln/>
        </p:spPr>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2421" y="3024063"/>
            <a:ext cx="5404133" cy="4597961"/>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156</TotalTime>
  <Words>1488</Words>
  <Application>Microsoft Office PowerPoint</Application>
  <PresentationFormat>Custom</PresentationFormat>
  <Paragraphs>181</Paragraphs>
  <Slides>25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Century Gothic</vt:lpstr>
      <vt:lpstr>Calibri</vt:lpstr>
      <vt:lpstr>Arial</vt:lpstr>
      <vt:lpstr>Montserrat Medium</vt:lpstr>
      <vt:lpstr>Google Sans</vt:lpstr>
      <vt:lpstr>Brygada 1918 Bold</vt:lpstr>
      <vt:lpstr>Wingdings 3</vt:lpstr>
      <vt:lpstr>Times New Roman</vt:lpstr>
      <vt:lpstr>Ion Boardroom</vt:lpstr>
      <vt:lpstr>Applied Probability for AI          (CMAI 6203 )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Home PC</dc:creator>
  <cp:lastModifiedBy>Home PC</cp:lastModifiedBy>
  <cp:revision>22</cp:revision>
  <dcterms:created xsi:type="dcterms:W3CDTF">2026-02-16T08:18:23Z</dcterms:created>
  <dcterms:modified xsi:type="dcterms:W3CDTF">2026-03-16T16:45:12Z</dcterms:modified>
</cp:coreProperties>
</file>